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Playfair Display Bold" charset="1" panose="00000000000000000000"/>
      <p:regular r:id="rId13"/>
    </p:embeddedFont>
    <p:embeddedFont>
      <p:font typeface="Playfair Display" charset="1" panose="00000000000000000000"/>
      <p:regular r:id="rId14"/>
    </p:embeddedFont>
    <p:embeddedFont>
      <p:font typeface="Times New Roman" charset="1" panose="02020603050405020304"/>
      <p:regular r:id="rId15"/>
    </p:embeddedFont>
    <p:embeddedFont>
      <p:font typeface="Playfair Display SC" charset="1" panose="000005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4D6A50"/>
        </a:solidFill>
      </p:bgPr>
    </p:bg>
    <p:spTree>
      <p:nvGrpSpPr>
        <p:cNvPr id="1" name=""/>
        <p:cNvGrpSpPr/>
        <p:nvPr/>
      </p:nvGrpSpPr>
      <p:grpSpPr>
        <a:xfrm>
          <a:off x="0" y="0"/>
          <a:ext cx="0" cy="0"/>
          <a:chOff x="0" y="0"/>
          <a:chExt cx="0" cy="0"/>
        </a:xfrm>
      </p:grpSpPr>
      <p:grpSp>
        <p:nvGrpSpPr>
          <p:cNvPr name="Group 2" id="2"/>
          <p:cNvGrpSpPr/>
          <p:nvPr/>
        </p:nvGrpSpPr>
        <p:grpSpPr>
          <a:xfrm rot="-840060">
            <a:off x="-808777" y="-708774"/>
            <a:ext cx="8003057" cy="5703399"/>
            <a:chOff x="0" y="0"/>
            <a:chExt cx="10670743" cy="7604531"/>
          </a:xfrm>
        </p:grpSpPr>
        <p:sp>
          <p:nvSpPr>
            <p:cNvPr name="Freeform 3" id="3"/>
            <p:cNvSpPr/>
            <p:nvPr/>
          </p:nvSpPr>
          <p:spPr>
            <a:xfrm flipH="false" flipV="false" rot="0">
              <a:off x="0" y="0"/>
              <a:ext cx="10670667" cy="7604506"/>
            </a:xfrm>
            <a:custGeom>
              <a:avLst/>
              <a:gdLst/>
              <a:ahLst/>
              <a:cxnLst/>
              <a:rect r="r" b="b" t="t" l="l"/>
              <a:pathLst>
                <a:path h="7604506" w="10670667">
                  <a:moveTo>
                    <a:pt x="1896110" y="0"/>
                  </a:moveTo>
                  <a:lnTo>
                    <a:pt x="0" y="7604379"/>
                  </a:lnTo>
                  <a:lnTo>
                    <a:pt x="10670667" y="7604506"/>
                  </a:lnTo>
                  <a:lnTo>
                    <a:pt x="10670667" y="2187829"/>
                  </a:lnTo>
                  <a:close/>
                </a:path>
              </a:pathLst>
            </a:custGeom>
            <a:blipFill>
              <a:blip r:embed="rId2">
                <a:alphaModFix amt="22999"/>
              </a:blip>
              <a:stretch>
                <a:fillRect l="-28196" t="-69321" r="-27" b="-10602"/>
              </a:stretch>
            </a:blipFill>
          </p:spPr>
        </p:sp>
      </p:grpSp>
      <p:grpSp>
        <p:nvGrpSpPr>
          <p:cNvPr name="Group 4" id="4"/>
          <p:cNvGrpSpPr/>
          <p:nvPr/>
        </p:nvGrpSpPr>
        <p:grpSpPr>
          <a:xfrm rot="-960060">
            <a:off x="11705473" y="5516909"/>
            <a:ext cx="7481954" cy="5474608"/>
            <a:chOff x="0" y="0"/>
            <a:chExt cx="9975939" cy="7299477"/>
          </a:xfrm>
        </p:grpSpPr>
        <p:sp>
          <p:nvSpPr>
            <p:cNvPr name="Freeform 5" id="5"/>
            <p:cNvSpPr/>
            <p:nvPr/>
          </p:nvSpPr>
          <p:spPr>
            <a:xfrm flipH="false" flipV="false" rot="0">
              <a:off x="0" y="0"/>
              <a:ext cx="9975977" cy="7299452"/>
            </a:xfrm>
            <a:custGeom>
              <a:avLst/>
              <a:gdLst/>
              <a:ahLst/>
              <a:cxnLst/>
              <a:rect r="r" b="b" t="t" l="l"/>
              <a:pathLst>
                <a:path h="7299452" w="9975977">
                  <a:moveTo>
                    <a:pt x="9975977" y="127"/>
                  </a:moveTo>
                  <a:lnTo>
                    <a:pt x="0" y="0"/>
                  </a:lnTo>
                  <a:lnTo>
                    <a:pt x="0" y="5038979"/>
                  </a:lnTo>
                  <a:lnTo>
                    <a:pt x="7882763" y="7299452"/>
                  </a:lnTo>
                  <a:lnTo>
                    <a:pt x="9975977" y="127"/>
                  </a:lnTo>
                  <a:close/>
                </a:path>
              </a:pathLst>
            </a:custGeom>
            <a:blipFill>
              <a:blip r:embed="rId2">
                <a:alphaModFix amt="22999"/>
              </a:blip>
              <a:stretch>
                <a:fillRect l="0" t="-11009" r="-37158" b="-76440"/>
              </a:stretch>
            </a:blipFill>
          </p:spPr>
        </p:sp>
      </p:grpSp>
      <p:sp>
        <p:nvSpPr>
          <p:cNvPr name="TextBox 6" id="6"/>
          <p:cNvSpPr txBox="true"/>
          <p:nvPr/>
        </p:nvSpPr>
        <p:spPr>
          <a:xfrm rot="0">
            <a:off x="8512835" y="8867270"/>
            <a:ext cx="1287580" cy="1062228"/>
          </a:xfrm>
          <a:prstGeom prst="rect">
            <a:avLst/>
          </a:prstGeom>
        </p:spPr>
        <p:txBody>
          <a:bodyPr anchor="t" rtlCol="false" tIns="0" lIns="0" bIns="0" rIns="0">
            <a:spAutoFit/>
          </a:bodyPr>
          <a:lstStyle/>
          <a:p>
            <a:pPr algn="ctr">
              <a:lnSpc>
                <a:spcPts val="2871"/>
              </a:lnSpc>
            </a:pPr>
            <a:r>
              <a:rPr lang="en-US" b="true" sz="1800">
                <a:solidFill>
                  <a:srgbClr val="F1EADE"/>
                </a:solidFill>
                <a:latin typeface="Playfair Display Bold"/>
                <a:ea typeface="Playfair Display Bold"/>
                <a:cs typeface="Playfair Display Bold"/>
                <a:sym typeface="Playfair Display Bold"/>
              </a:rPr>
              <a:t>29/03/2026 Sapna Singh</a:t>
            </a:r>
          </a:p>
        </p:txBody>
      </p:sp>
      <p:sp>
        <p:nvSpPr>
          <p:cNvPr name="TextBox 7" id="7"/>
          <p:cNvSpPr txBox="true"/>
          <p:nvPr/>
        </p:nvSpPr>
        <p:spPr>
          <a:xfrm rot="0">
            <a:off x="2097278" y="3284826"/>
            <a:ext cx="14118696" cy="4330386"/>
          </a:xfrm>
          <a:prstGeom prst="rect">
            <a:avLst/>
          </a:prstGeom>
        </p:spPr>
        <p:txBody>
          <a:bodyPr anchor="t" rtlCol="false" tIns="0" lIns="0" bIns="0" rIns="0">
            <a:spAutoFit/>
          </a:bodyPr>
          <a:lstStyle/>
          <a:p>
            <a:pPr algn="ctr">
              <a:lnSpc>
                <a:spcPts val="8442"/>
              </a:lnSpc>
            </a:pPr>
            <a:r>
              <a:rPr lang="en-US" b="true" sz="8442">
                <a:solidFill>
                  <a:srgbClr val="F1EADE"/>
                </a:solidFill>
                <a:latin typeface="Playfair Display Bold"/>
                <a:ea typeface="Playfair Display Bold"/>
                <a:cs typeface="Playfair Display Bold"/>
                <a:sym typeface="Playfair Display Bold"/>
              </a:rPr>
              <a:t>Simulation of a Multi-Elevator Intelligent Control System using the State Design Pattern </a:t>
            </a:r>
            <a:r>
              <a:rPr lang="en-US" sz="8442">
                <a:solidFill>
                  <a:srgbClr val="F1EADE"/>
                </a:solidFill>
                <a:latin typeface="Playfair Display"/>
                <a:ea typeface="Playfair Display"/>
                <a:cs typeface="Playfair Display"/>
                <a:sym typeface="Playfair Display"/>
              </a:rPr>
              <a:t> </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1EADE"/>
        </a:solidFill>
      </p:bgPr>
    </p:bg>
    <p:spTree>
      <p:nvGrpSpPr>
        <p:cNvPr id="1" name=""/>
        <p:cNvGrpSpPr/>
        <p:nvPr/>
      </p:nvGrpSpPr>
      <p:grpSpPr>
        <a:xfrm>
          <a:off x="0" y="0"/>
          <a:ext cx="0" cy="0"/>
          <a:chOff x="0" y="0"/>
          <a:chExt cx="0" cy="0"/>
        </a:xfrm>
      </p:grpSpPr>
      <p:sp>
        <p:nvSpPr>
          <p:cNvPr name="TextBox 2" id="2"/>
          <p:cNvSpPr txBox="true"/>
          <p:nvPr/>
        </p:nvSpPr>
        <p:spPr>
          <a:xfrm rot="0">
            <a:off x="1028700" y="3012394"/>
            <a:ext cx="14458556" cy="1228725"/>
          </a:xfrm>
          <a:prstGeom prst="rect">
            <a:avLst/>
          </a:prstGeom>
        </p:spPr>
        <p:txBody>
          <a:bodyPr anchor="t" rtlCol="false" tIns="0" lIns="0" bIns="0" rIns="0">
            <a:spAutoFit/>
          </a:bodyPr>
          <a:lstStyle/>
          <a:p>
            <a:pPr algn="l">
              <a:lnSpc>
                <a:spcPts val="3226"/>
              </a:lnSpc>
            </a:pPr>
            <a:r>
              <a:rPr lang="en-US" sz="2688" b="true">
                <a:solidFill>
                  <a:srgbClr val="37403A"/>
                </a:solidFill>
                <a:latin typeface="Playfair Display Bold"/>
                <a:ea typeface="Playfair Display Bold"/>
                <a:cs typeface="Playfair Display Bold"/>
                <a:sym typeface="Playfair Display Bold"/>
              </a:rPr>
              <a:t>Project Title:</a:t>
            </a:r>
          </a:p>
          <a:p>
            <a:pPr algn="l">
              <a:lnSpc>
                <a:spcPts val="3226"/>
              </a:lnSpc>
            </a:pPr>
            <a:r>
              <a:rPr lang="en-US" sz="2688">
                <a:solidFill>
                  <a:srgbClr val="37403A"/>
                </a:solidFill>
                <a:latin typeface="Playfair Display"/>
                <a:ea typeface="Playfair Display"/>
                <a:cs typeface="Playfair Display"/>
                <a:sym typeface="Playfair Display"/>
              </a:rPr>
              <a:t> </a:t>
            </a:r>
            <a:r>
              <a:rPr lang="en-US" sz="2688">
                <a:solidFill>
                  <a:srgbClr val="37403A"/>
                </a:solidFill>
                <a:latin typeface="Playfair Display"/>
                <a:ea typeface="Playfair Display"/>
                <a:cs typeface="Playfair Display"/>
                <a:sym typeface="Playfair Display"/>
              </a:rPr>
              <a:t>Smart Elevator Control System: A State Design Pattern Approach</a:t>
            </a:r>
          </a:p>
          <a:p>
            <a:pPr algn="l">
              <a:lnSpc>
                <a:spcPts val="3226"/>
              </a:lnSpc>
            </a:pPr>
          </a:p>
        </p:txBody>
      </p:sp>
      <p:sp>
        <p:nvSpPr>
          <p:cNvPr name="TextBox 3" id="3"/>
          <p:cNvSpPr txBox="true"/>
          <p:nvPr/>
        </p:nvSpPr>
        <p:spPr>
          <a:xfrm rot="0">
            <a:off x="5293672" y="608663"/>
            <a:ext cx="8486537" cy="1601368"/>
          </a:xfrm>
          <a:prstGeom prst="rect">
            <a:avLst/>
          </a:prstGeom>
        </p:spPr>
        <p:txBody>
          <a:bodyPr anchor="t" rtlCol="false" tIns="0" lIns="0" bIns="0" rIns="0">
            <a:spAutoFit/>
          </a:bodyPr>
          <a:lstStyle/>
          <a:p>
            <a:pPr algn="l">
              <a:lnSpc>
                <a:spcPts val="14150"/>
              </a:lnSpc>
            </a:pPr>
            <a:r>
              <a:rPr lang="en-US" sz="6800">
                <a:solidFill>
                  <a:srgbClr val="37403A"/>
                </a:solidFill>
                <a:latin typeface="Playfair Display"/>
                <a:ea typeface="Playfair Display"/>
                <a:cs typeface="Playfair Display"/>
                <a:sym typeface="Playfair Display"/>
              </a:rPr>
              <a:t>PROJECT OVERVIEW</a:t>
            </a:r>
            <a:r>
              <a:rPr lang="en-US" sz="6800">
                <a:solidFill>
                  <a:srgbClr val="37403A"/>
                </a:solidFill>
                <a:latin typeface="Playfair Display"/>
                <a:ea typeface="Playfair Display"/>
                <a:cs typeface="Playfair Display"/>
                <a:sym typeface="Playfair Display"/>
              </a:rPr>
              <a:t> </a:t>
            </a:r>
          </a:p>
        </p:txBody>
      </p:sp>
      <p:sp>
        <p:nvSpPr>
          <p:cNvPr name="TextBox 4" id="4"/>
          <p:cNvSpPr txBox="true"/>
          <p:nvPr/>
        </p:nvSpPr>
        <p:spPr>
          <a:xfrm rot="0">
            <a:off x="1028700" y="4287498"/>
            <a:ext cx="14797486" cy="1952625"/>
          </a:xfrm>
          <a:prstGeom prst="rect">
            <a:avLst/>
          </a:prstGeom>
        </p:spPr>
        <p:txBody>
          <a:bodyPr anchor="t" rtlCol="false" tIns="0" lIns="0" bIns="0" rIns="0">
            <a:spAutoFit/>
          </a:bodyPr>
          <a:lstStyle/>
          <a:p>
            <a:pPr algn="l">
              <a:lnSpc>
                <a:spcPts val="3094"/>
              </a:lnSpc>
            </a:pPr>
            <a:r>
              <a:rPr lang="en-US" sz="2578" b="true">
                <a:solidFill>
                  <a:srgbClr val="37403A"/>
                </a:solidFill>
                <a:latin typeface="Playfair Display Bold"/>
                <a:ea typeface="Playfair Display Bold"/>
                <a:cs typeface="Playfair Display Bold"/>
                <a:sym typeface="Playfair Display Bold"/>
              </a:rPr>
              <a:t> Problem Statement</a:t>
            </a:r>
            <a:r>
              <a:rPr lang="en-US" sz="2578">
                <a:solidFill>
                  <a:srgbClr val="37403A"/>
                </a:solidFill>
                <a:latin typeface="Playfair Display"/>
                <a:ea typeface="Playfair Display"/>
                <a:cs typeface="Playfair Display"/>
                <a:sym typeface="Playfair Display"/>
              </a:rPr>
              <a:t> :</a:t>
            </a:r>
          </a:p>
          <a:p>
            <a:pPr algn="l">
              <a:lnSpc>
                <a:spcPts val="3094"/>
              </a:lnSpc>
            </a:pPr>
            <a:r>
              <a:rPr lang="en-US" sz="2578">
                <a:solidFill>
                  <a:srgbClr val="37403A"/>
                </a:solidFill>
                <a:latin typeface="Playfair Display"/>
                <a:ea typeface="Playfair Display"/>
                <a:cs typeface="Playfair Display"/>
                <a:sym typeface="Playfair Display"/>
              </a:rPr>
              <a:t>Modern multi-storey buildings face significant challenges in transporting occupants efficiently between floors. As building height and occupancy increase, managing a fleet of elevators becomes a complex coordination problem involving varying user requests and real-time state changes. </a:t>
            </a:r>
          </a:p>
          <a:p>
            <a:pPr algn="l">
              <a:lnSpc>
                <a:spcPts val="3094"/>
              </a:lnSpc>
            </a:pPr>
          </a:p>
        </p:txBody>
      </p:sp>
      <p:sp>
        <p:nvSpPr>
          <p:cNvPr name="TextBox 5" id="5"/>
          <p:cNvSpPr txBox="true"/>
          <p:nvPr/>
        </p:nvSpPr>
        <p:spPr>
          <a:xfrm rot="0">
            <a:off x="1028700" y="6233587"/>
            <a:ext cx="16007691" cy="3514725"/>
          </a:xfrm>
          <a:prstGeom prst="rect">
            <a:avLst/>
          </a:prstGeom>
        </p:spPr>
        <p:txBody>
          <a:bodyPr anchor="t" rtlCol="false" tIns="0" lIns="0" bIns="0" rIns="0">
            <a:spAutoFit/>
          </a:bodyPr>
          <a:lstStyle/>
          <a:p>
            <a:pPr algn="l">
              <a:lnSpc>
                <a:spcPts val="3146"/>
              </a:lnSpc>
            </a:pPr>
            <a:r>
              <a:rPr lang="en-US" sz="2622" b="true">
                <a:solidFill>
                  <a:srgbClr val="37403A"/>
                </a:solidFill>
                <a:latin typeface="Playfair Display Bold"/>
                <a:ea typeface="Playfair Display Bold"/>
                <a:cs typeface="Playfair Display Bold"/>
                <a:sym typeface="Playfair Display Bold"/>
              </a:rPr>
              <a:t>Target User:</a:t>
            </a:r>
          </a:p>
          <a:p>
            <a:pPr algn="l">
              <a:lnSpc>
                <a:spcPts val="3146"/>
              </a:lnSpc>
            </a:pPr>
            <a:r>
              <a:rPr lang="en-US" sz="2622">
                <a:solidFill>
                  <a:srgbClr val="37403A"/>
                </a:solidFill>
                <a:latin typeface="Playfair Display"/>
                <a:ea typeface="Playfair Display"/>
                <a:cs typeface="Playfair Display"/>
                <a:sym typeface="Playfair Display"/>
              </a:rPr>
              <a:t>The target users for this system include:</a:t>
            </a:r>
          </a:p>
          <a:p>
            <a:pPr algn="l" marL="566146" indent="-283073" lvl="1">
              <a:lnSpc>
                <a:spcPts val="3146"/>
              </a:lnSpc>
              <a:buFont typeface="Arial"/>
              <a:buChar char="•"/>
            </a:pPr>
            <a:r>
              <a:rPr lang="en-US" sz="2622">
                <a:solidFill>
                  <a:srgbClr val="37403A"/>
                </a:solidFill>
                <a:latin typeface="Playfair Display"/>
                <a:ea typeface="Playfair Display"/>
                <a:cs typeface="Playfair Display"/>
                <a:sym typeface="Playfair Display"/>
              </a:rPr>
              <a:t>Building Architects &amp; Engineers: Who require a reliable logic framework for high-rise vertical transportation.</a:t>
            </a:r>
          </a:p>
          <a:p>
            <a:pPr algn="l" marL="566146" indent="-283073" lvl="1">
              <a:lnSpc>
                <a:spcPts val="3146"/>
              </a:lnSpc>
              <a:buFont typeface="Arial"/>
              <a:buChar char="•"/>
            </a:pPr>
            <a:r>
              <a:rPr lang="en-US" sz="2622">
                <a:solidFill>
                  <a:srgbClr val="37403A"/>
                </a:solidFill>
                <a:latin typeface="Playfair Display"/>
                <a:ea typeface="Playfair Display"/>
                <a:cs typeface="Playfair Display"/>
                <a:sym typeface="Playfair Display"/>
              </a:rPr>
              <a:t>Software Developers: Looking for a scalable template to implement state-dependent behavior in IoT or robotic systems.</a:t>
            </a:r>
          </a:p>
          <a:p>
            <a:pPr algn="l" marL="566146" indent="-283073" lvl="1">
              <a:lnSpc>
                <a:spcPts val="3146"/>
              </a:lnSpc>
              <a:buFont typeface="Arial"/>
              <a:buChar char="•"/>
            </a:pPr>
            <a:r>
              <a:rPr lang="en-US" sz="2622">
                <a:solidFill>
                  <a:srgbClr val="37403A"/>
                </a:solidFill>
                <a:latin typeface="Playfair Display"/>
                <a:ea typeface="Playfair Display"/>
                <a:cs typeface="Playfair Display"/>
                <a:sym typeface="Playfair Display"/>
              </a:rPr>
              <a:t>Smart Building Management Systems: That need to integrate elevator logic into a broader automated infrastructure.</a:t>
            </a:r>
          </a:p>
          <a:p>
            <a:pPr algn="l">
              <a:lnSpc>
                <a:spcPts val="3146"/>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1EADE"/>
        </a:solidFill>
      </p:bgPr>
    </p:bg>
    <p:spTree>
      <p:nvGrpSpPr>
        <p:cNvPr id="1" name=""/>
        <p:cNvGrpSpPr/>
        <p:nvPr/>
      </p:nvGrpSpPr>
      <p:grpSpPr>
        <a:xfrm>
          <a:off x="0" y="0"/>
          <a:ext cx="0" cy="0"/>
          <a:chOff x="0" y="0"/>
          <a:chExt cx="0" cy="0"/>
        </a:xfrm>
      </p:grpSpPr>
      <p:sp>
        <p:nvSpPr>
          <p:cNvPr name="Freeform 2" id="2"/>
          <p:cNvSpPr/>
          <p:nvPr/>
        </p:nvSpPr>
        <p:spPr>
          <a:xfrm flipH="false" flipV="false" rot="0">
            <a:off x="1313717" y="5254000"/>
            <a:ext cx="724157" cy="760133"/>
          </a:xfrm>
          <a:custGeom>
            <a:avLst/>
            <a:gdLst/>
            <a:ahLst/>
            <a:cxnLst/>
            <a:rect r="r" b="b" t="t" l="l"/>
            <a:pathLst>
              <a:path h="760133" w="724157">
                <a:moveTo>
                  <a:pt x="0" y="0"/>
                </a:moveTo>
                <a:lnTo>
                  <a:pt x="724157" y="0"/>
                </a:lnTo>
                <a:lnTo>
                  <a:pt x="724157" y="760133"/>
                </a:lnTo>
                <a:lnTo>
                  <a:pt x="0" y="7601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65041" y="4939951"/>
            <a:ext cx="16598551" cy="3259807"/>
          </a:xfrm>
          <a:custGeom>
            <a:avLst/>
            <a:gdLst/>
            <a:ahLst/>
            <a:cxnLst/>
            <a:rect r="r" b="b" t="t" l="l"/>
            <a:pathLst>
              <a:path h="3259807" w="16598551">
                <a:moveTo>
                  <a:pt x="0" y="0"/>
                </a:moveTo>
                <a:lnTo>
                  <a:pt x="16598551" y="0"/>
                </a:lnTo>
                <a:lnTo>
                  <a:pt x="16598551" y="3259807"/>
                </a:lnTo>
                <a:lnTo>
                  <a:pt x="0" y="32598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77258" y="6284366"/>
            <a:ext cx="4469130" cy="1676400"/>
          </a:xfrm>
          <a:prstGeom prst="rect">
            <a:avLst/>
          </a:prstGeom>
        </p:spPr>
        <p:txBody>
          <a:bodyPr anchor="t" rtlCol="false" tIns="0" lIns="0" bIns="0" rIns="0">
            <a:spAutoFit/>
          </a:bodyPr>
          <a:lstStyle/>
          <a:p>
            <a:pPr algn="l">
              <a:lnSpc>
                <a:spcPts val="4200"/>
              </a:lnSpc>
            </a:pPr>
            <a:r>
              <a:rPr lang="en-US" sz="3000">
                <a:solidFill>
                  <a:srgbClr val="37403A"/>
                </a:solidFill>
                <a:latin typeface="Playfair Display"/>
                <a:ea typeface="Playfair Display"/>
                <a:cs typeface="Playfair Display"/>
                <a:sym typeface="Playfair Display"/>
              </a:rPr>
              <a:t>Distinct Operational States</a:t>
            </a:r>
          </a:p>
          <a:p>
            <a:pPr algn="l">
              <a:lnSpc>
                <a:spcPts val="2400"/>
              </a:lnSpc>
            </a:pPr>
            <a:r>
              <a:rPr lang="en-US" sz="2000">
                <a:solidFill>
                  <a:srgbClr val="37403A"/>
                </a:solidFill>
                <a:latin typeface="Playfair Display"/>
                <a:ea typeface="Playfair Display"/>
                <a:cs typeface="Playfair Display"/>
                <a:sym typeface="Playfair Display"/>
              </a:rPr>
              <a:t>Elevator modeled as Idle, Moving Up, Moving Down, Door Open</a:t>
            </a:r>
          </a:p>
        </p:txBody>
      </p:sp>
      <p:sp>
        <p:nvSpPr>
          <p:cNvPr name="TextBox 5" id="5"/>
          <p:cNvSpPr txBox="true"/>
          <p:nvPr/>
        </p:nvSpPr>
        <p:spPr>
          <a:xfrm rot="0">
            <a:off x="6867773" y="6341516"/>
            <a:ext cx="4039057" cy="1800225"/>
          </a:xfrm>
          <a:prstGeom prst="rect">
            <a:avLst/>
          </a:prstGeom>
        </p:spPr>
        <p:txBody>
          <a:bodyPr anchor="t" rtlCol="false" tIns="0" lIns="0" bIns="0" rIns="0">
            <a:spAutoFit/>
          </a:bodyPr>
          <a:lstStyle/>
          <a:p>
            <a:pPr algn="l">
              <a:lnSpc>
                <a:spcPts val="3600"/>
              </a:lnSpc>
            </a:pPr>
            <a:r>
              <a:rPr lang="en-US" sz="3000">
                <a:solidFill>
                  <a:srgbClr val="37403A"/>
                </a:solidFill>
                <a:latin typeface="Playfair Display"/>
                <a:ea typeface="Playfair Display"/>
                <a:cs typeface="Playfair Display"/>
                <a:sym typeface="Playfair Display"/>
              </a:rPr>
              <a:t>State Design Pattern Advantage</a:t>
            </a:r>
          </a:p>
          <a:p>
            <a:pPr algn="l">
              <a:lnSpc>
                <a:spcPts val="2400"/>
              </a:lnSpc>
            </a:pPr>
            <a:r>
              <a:rPr lang="en-US" sz="2000">
                <a:solidFill>
                  <a:srgbClr val="37403A"/>
                </a:solidFill>
                <a:latin typeface="Playfair Display"/>
                <a:ea typeface="Playfair Display"/>
                <a:cs typeface="Playfair Display"/>
                <a:sym typeface="Playfair Display"/>
              </a:rPr>
              <a:t>Transitions handled by independent state objects for modularity</a:t>
            </a:r>
          </a:p>
        </p:txBody>
      </p:sp>
      <p:sp>
        <p:nvSpPr>
          <p:cNvPr name="TextBox 6" id="6"/>
          <p:cNvSpPr txBox="true"/>
          <p:nvPr/>
        </p:nvSpPr>
        <p:spPr>
          <a:xfrm rot="0">
            <a:off x="12358287" y="6341516"/>
            <a:ext cx="4112638" cy="1504950"/>
          </a:xfrm>
          <a:prstGeom prst="rect">
            <a:avLst/>
          </a:prstGeom>
        </p:spPr>
        <p:txBody>
          <a:bodyPr anchor="t" rtlCol="false" tIns="0" lIns="0" bIns="0" rIns="0">
            <a:spAutoFit/>
          </a:bodyPr>
          <a:lstStyle/>
          <a:p>
            <a:pPr algn="l">
              <a:lnSpc>
                <a:spcPts val="3600"/>
              </a:lnSpc>
            </a:pPr>
            <a:r>
              <a:rPr lang="en-US" sz="3000">
                <a:solidFill>
                  <a:srgbClr val="37403A"/>
                </a:solidFill>
                <a:latin typeface="Playfair Display"/>
                <a:ea typeface="Playfair Display"/>
                <a:cs typeface="Playfair Display"/>
                <a:sym typeface="Playfair Display"/>
              </a:rPr>
              <a:t>Decoupled Request Handling</a:t>
            </a:r>
          </a:p>
          <a:p>
            <a:pPr algn="l">
              <a:lnSpc>
                <a:spcPts val="2400"/>
              </a:lnSpc>
            </a:pPr>
            <a:r>
              <a:rPr lang="en-US" sz="2000">
                <a:solidFill>
                  <a:srgbClr val="37403A"/>
                </a:solidFill>
                <a:latin typeface="Playfair Display"/>
                <a:ea typeface="Playfair Display"/>
                <a:cs typeface="Playfair Display"/>
                <a:sym typeface="Playfair Display"/>
              </a:rPr>
              <a:t>Each state manages its own logic for ﬂoor requests</a:t>
            </a:r>
          </a:p>
        </p:txBody>
      </p:sp>
      <p:sp>
        <p:nvSpPr>
          <p:cNvPr name="TextBox 7" id="7"/>
          <p:cNvSpPr txBox="true"/>
          <p:nvPr/>
        </p:nvSpPr>
        <p:spPr>
          <a:xfrm rot="0">
            <a:off x="1987306" y="1775450"/>
            <a:ext cx="14599663" cy="1198388"/>
          </a:xfrm>
          <a:prstGeom prst="rect">
            <a:avLst/>
          </a:prstGeom>
        </p:spPr>
        <p:txBody>
          <a:bodyPr anchor="t" rtlCol="false" tIns="0" lIns="0" bIns="0" rIns="0">
            <a:spAutoFit/>
          </a:bodyPr>
          <a:lstStyle/>
          <a:p>
            <a:pPr algn="l">
              <a:lnSpc>
                <a:spcPts val="9519"/>
              </a:lnSpc>
            </a:pPr>
            <a:r>
              <a:rPr lang="en-US" sz="6800">
                <a:solidFill>
                  <a:srgbClr val="37403A"/>
                </a:solidFill>
                <a:latin typeface="Playfair Display"/>
                <a:ea typeface="Playfair Display"/>
                <a:cs typeface="Playfair Display"/>
                <a:sym typeface="Playfair Display"/>
              </a:rPr>
              <a:t>Intelligent Control with State Pattern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1EADE"/>
        </a:solidFill>
      </p:bgPr>
    </p:bg>
    <p:spTree>
      <p:nvGrpSpPr>
        <p:cNvPr id="1" name=""/>
        <p:cNvGrpSpPr/>
        <p:nvPr/>
      </p:nvGrpSpPr>
      <p:grpSpPr>
        <a:xfrm>
          <a:off x="0" y="0"/>
          <a:ext cx="0" cy="0"/>
          <a:chOff x="0" y="0"/>
          <a:chExt cx="0" cy="0"/>
        </a:xfrm>
      </p:grpSpPr>
      <p:grpSp>
        <p:nvGrpSpPr>
          <p:cNvPr name="Group 2" id="2"/>
          <p:cNvGrpSpPr/>
          <p:nvPr/>
        </p:nvGrpSpPr>
        <p:grpSpPr>
          <a:xfrm rot="0">
            <a:off x="5534357" y="3022642"/>
            <a:ext cx="105820" cy="6404908"/>
            <a:chOff x="0" y="0"/>
            <a:chExt cx="28575" cy="1729550"/>
          </a:xfrm>
        </p:grpSpPr>
        <p:sp>
          <p:nvSpPr>
            <p:cNvPr name="Freeform 3" id="3"/>
            <p:cNvSpPr/>
            <p:nvPr/>
          </p:nvSpPr>
          <p:spPr>
            <a:xfrm flipH="false" flipV="false" rot="0">
              <a:off x="0" y="0"/>
              <a:ext cx="28575" cy="1729486"/>
            </a:xfrm>
            <a:custGeom>
              <a:avLst/>
              <a:gdLst/>
              <a:ahLst/>
              <a:cxnLst/>
              <a:rect r="r" b="b" t="t" l="l"/>
              <a:pathLst>
                <a:path h="1729486" w="28575">
                  <a:moveTo>
                    <a:pt x="0" y="1586611"/>
                  </a:moveTo>
                  <a:lnTo>
                    <a:pt x="0" y="1500886"/>
                  </a:lnTo>
                  <a:lnTo>
                    <a:pt x="28575" y="1500886"/>
                  </a:lnTo>
                  <a:lnTo>
                    <a:pt x="28575" y="1586611"/>
                  </a:lnTo>
                  <a:close/>
                  <a:moveTo>
                    <a:pt x="28575" y="1443736"/>
                  </a:moveTo>
                  <a:lnTo>
                    <a:pt x="28575" y="1358011"/>
                  </a:lnTo>
                  <a:lnTo>
                    <a:pt x="28575" y="1443736"/>
                  </a:lnTo>
                  <a:close/>
                  <a:moveTo>
                    <a:pt x="28575" y="1300861"/>
                  </a:moveTo>
                  <a:lnTo>
                    <a:pt x="28575" y="1215136"/>
                  </a:lnTo>
                  <a:lnTo>
                    <a:pt x="28575" y="1300861"/>
                  </a:lnTo>
                  <a:close/>
                  <a:moveTo>
                    <a:pt x="0" y="1157986"/>
                  </a:moveTo>
                  <a:lnTo>
                    <a:pt x="0" y="1072261"/>
                  </a:lnTo>
                  <a:lnTo>
                    <a:pt x="28575" y="1072261"/>
                  </a:lnTo>
                  <a:lnTo>
                    <a:pt x="28575" y="1157986"/>
                  </a:lnTo>
                  <a:close/>
                  <a:moveTo>
                    <a:pt x="0" y="1015111"/>
                  </a:moveTo>
                  <a:lnTo>
                    <a:pt x="0" y="929386"/>
                  </a:lnTo>
                  <a:lnTo>
                    <a:pt x="28575" y="929386"/>
                  </a:lnTo>
                  <a:lnTo>
                    <a:pt x="28575" y="1015111"/>
                  </a:lnTo>
                  <a:close/>
                  <a:moveTo>
                    <a:pt x="0" y="872236"/>
                  </a:moveTo>
                  <a:lnTo>
                    <a:pt x="0" y="786511"/>
                  </a:lnTo>
                  <a:lnTo>
                    <a:pt x="28575" y="786511"/>
                  </a:lnTo>
                  <a:lnTo>
                    <a:pt x="28575" y="872236"/>
                  </a:lnTo>
                  <a:close/>
                  <a:moveTo>
                    <a:pt x="0" y="729361"/>
                  </a:moveTo>
                  <a:lnTo>
                    <a:pt x="0" y="643636"/>
                  </a:lnTo>
                  <a:lnTo>
                    <a:pt x="28575" y="643636"/>
                  </a:lnTo>
                  <a:lnTo>
                    <a:pt x="28575" y="729361"/>
                  </a:lnTo>
                  <a:close/>
                  <a:moveTo>
                    <a:pt x="0" y="586486"/>
                  </a:moveTo>
                  <a:lnTo>
                    <a:pt x="0" y="500761"/>
                  </a:lnTo>
                  <a:lnTo>
                    <a:pt x="28575" y="500761"/>
                  </a:lnTo>
                  <a:lnTo>
                    <a:pt x="28575" y="586486"/>
                  </a:lnTo>
                  <a:close/>
                  <a:moveTo>
                    <a:pt x="0" y="443611"/>
                  </a:moveTo>
                  <a:lnTo>
                    <a:pt x="0" y="357886"/>
                  </a:lnTo>
                  <a:lnTo>
                    <a:pt x="28575" y="357886"/>
                  </a:lnTo>
                  <a:lnTo>
                    <a:pt x="28575" y="443611"/>
                  </a:lnTo>
                  <a:close/>
                  <a:moveTo>
                    <a:pt x="0" y="300736"/>
                  </a:moveTo>
                  <a:lnTo>
                    <a:pt x="0" y="215011"/>
                  </a:lnTo>
                  <a:lnTo>
                    <a:pt x="28575" y="215011"/>
                  </a:lnTo>
                  <a:lnTo>
                    <a:pt x="28575" y="300736"/>
                  </a:lnTo>
                  <a:close/>
                  <a:moveTo>
                    <a:pt x="0" y="157861"/>
                  </a:moveTo>
                  <a:lnTo>
                    <a:pt x="0" y="72136"/>
                  </a:lnTo>
                  <a:lnTo>
                    <a:pt x="28575" y="72136"/>
                  </a:lnTo>
                  <a:lnTo>
                    <a:pt x="28575" y="157861"/>
                  </a:lnTo>
                  <a:close/>
                  <a:moveTo>
                    <a:pt x="0" y="14986"/>
                  </a:moveTo>
                  <a:lnTo>
                    <a:pt x="0" y="0"/>
                  </a:lnTo>
                  <a:lnTo>
                    <a:pt x="28575" y="0"/>
                  </a:lnTo>
                  <a:lnTo>
                    <a:pt x="28575" y="14986"/>
                  </a:lnTo>
                  <a:close/>
                  <a:moveTo>
                    <a:pt x="28575" y="1729486"/>
                  </a:moveTo>
                  <a:lnTo>
                    <a:pt x="28575" y="1643761"/>
                  </a:lnTo>
                  <a:lnTo>
                    <a:pt x="28575" y="1729486"/>
                  </a:lnTo>
                  <a:close/>
                </a:path>
              </a:pathLst>
            </a:custGeom>
            <a:solidFill>
              <a:srgbClr val="5F8262"/>
            </a:solidFill>
          </p:spPr>
        </p:sp>
      </p:grpSp>
      <p:sp>
        <p:nvSpPr>
          <p:cNvPr name="TextBox 4" id="4"/>
          <p:cNvSpPr txBox="true"/>
          <p:nvPr/>
        </p:nvSpPr>
        <p:spPr>
          <a:xfrm rot="0">
            <a:off x="1351421" y="3704441"/>
            <a:ext cx="3868322" cy="1047750"/>
          </a:xfrm>
          <a:prstGeom prst="rect">
            <a:avLst/>
          </a:prstGeom>
        </p:spPr>
        <p:txBody>
          <a:bodyPr anchor="t" rtlCol="false" tIns="0" lIns="0" bIns="0" rIns="0">
            <a:spAutoFit/>
          </a:bodyPr>
          <a:lstStyle/>
          <a:p>
            <a:pPr algn="l">
              <a:lnSpc>
                <a:spcPts val="4200"/>
              </a:lnSpc>
            </a:pPr>
            <a:r>
              <a:rPr lang="en-US" sz="3000">
                <a:solidFill>
                  <a:srgbClr val="37403A"/>
                </a:solidFill>
                <a:latin typeface="Playfair Display"/>
                <a:ea typeface="Playfair Display"/>
                <a:cs typeface="Playfair Display"/>
                <a:sym typeface="Playfair Display"/>
              </a:rPr>
              <a:t>Delegation of Requests</a:t>
            </a:r>
          </a:p>
        </p:txBody>
      </p:sp>
      <p:sp>
        <p:nvSpPr>
          <p:cNvPr name="TextBox 5" id="5"/>
          <p:cNvSpPr txBox="true"/>
          <p:nvPr/>
        </p:nvSpPr>
        <p:spPr>
          <a:xfrm rot="0">
            <a:off x="1308416" y="5636600"/>
            <a:ext cx="4303185" cy="1047750"/>
          </a:xfrm>
          <a:prstGeom prst="rect">
            <a:avLst/>
          </a:prstGeom>
        </p:spPr>
        <p:txBody>
          <a:bodyPr anchor="t" rtlCol="false" tIns="0" lIns="0" bIns="0" rIns="0">
            <a:spAutoFit/>
          </a:bodyPr>
          <a:lstStyle/>
          <a:p>
            <a:pPr algn="l">
              <a:lnSpc>
                <a:spcPts val="4200"/>
              </a:lnSpc>
            </a:pPr>
            <a:r>
              <a:rPr lang="en-US" sz="3000">
                <a:solidFill>
                  <a:srgbClr val="37403A"/>
                </a:solidFill>
                <a:latin typeface="Playfair Display"/>
                <a:ea typeface="Playfair Display"/>
                <a:cs typeface="Playfair Display"/>
                <a:sym typeface="Playfair Display"/>
              </a:rPr>
              <a:t>Dynamic State Transitions</a:t>
            </a:r>
          </a:p>
        </p:txBody>
      </p:sp>
      <p:sp>
        <p:nvSpPr>
          <p:cNvPr name="TextBox 6" id="6"/>
          <p:cNvSpPr txBox="true"/>
          <p:nvPr/>
        </p:nvSpPr>
        <p:spPr>
          <a:xfrm rot="0">
            <a:off x="1308416" y="7627325"/>
            <a:ext cx="3639064" cy="1209675"/>
          </a:xfrm>
          <a:prstGeom prst="rect">
            <a:avLst/>
          </a:prstGeom>
        </p:spPr>
        <p:txBody>
          <a:bodyPr anchor="t" rtlCol="false" tIns="0" lIns="0" bIns="0" rIns="0">
            <a:spAutoFit/>
          </a:bodyPr>
          <a:lstStyle/>
          <a:p>
            <a:pPr algn="l">
              <a:lnSpc>
                <a:spcPts val="3600"/>
              </a:lnSpc>
            </a:pPr>
            <a:r>
              <a:rPr lang="en-US" sz="3000">
                <a:solidFill>
                  <a:srgbClr val="37403A"/>
                </a:solidFill>
                <a:latin typeface="Playfair Display"/>
                <a:ea typeface="Playfair Display"/>
                <a:cs typeface="Playfair Display"/>
                <a:sym typeface="Playfair Display"/>
              </a:rPr>
              <a:t>Centralized Request Management</a:t>
            </a:r>
          </a:p>
          <a:p>
            <a:pPr algn="l">
              <a:lnSpc>
                <a:spcPts val="2400"/>
              </a:lnSpc>
            </a:pPr>
            <a:r>
              <a:rPr lang="en-US" sz="2000">
                <a:solidFill>
                  <a:srgbClr val="37403A"/>
                </a:solidFill>
                <a:latin typeface="Playfair Display"/>
                <a:ea typeface="Playfair Display"/>
                <a:cs typeface="Playfair Display"/>
                <a:sym typeface="Playfair Display"/>
              </a:rPr>
              <a:t>•A controller and queue handle </a:t>
            </a:r>
          </a:p>
        </p:txBody>
      </p:sp>
      <p:sp>
        <p:nvSpPr>
          <p:cNvPr name="TextBox 7" id="7"/>
          <p:cNvSpPr txBox="true"/>
          <p:nvPr/>
        </p:nvSpPr>
        <p:spPr>
          <a:xfrm rot="0">
            <a:off x="1372924" y="6328277"/>
            <a:ext cx="90678" cy="356073"/>
          </a:xfrm>
          <a:prstGeom prst="rect">
            <a:avLst/>
          </a:prstGeom>
        </p:spPr>
        <p:txBody>
          <a:bodyPr anchor="t" rtlCol="false" tIns="0" lIns="0" bIns="0" rIns="0">
            <a:spAutoFit/>
          </a:bodyPr>
          <a:lstStyle/>
          <a:p>
            <a:pPr algn="l">
              <a:lnSpc>
                <a:spcPts val="2800"/>
              </a:lnSpc>
            </a:pPr>
            <a:r>
              <a:rPr lang="en-US" sz="2000">
                <a:solidFill>
                  <a:srgbClr val="37403A"/>
                </a:solidFill>
                <a:latin typeface="Times New Roman"/>
                <a:ea typeface="Times New Roman"/>
                <a:cs typeface="Times New Roman"/>
                <a:sym typeface="Times New Roman"/>
              </a:rPr>
              <a:t>•</a:t>
            </a:r>
          </a:p>
        </p:txBody>
      </p:sp>
      <p:sp>
        <p:nvSpPr>
          <p:cNvPr name="TextBox 8" id="8"/>
          <p:cNvSpPr txBox="true"/>
          <p:nvPr/>
        </p:nvSpPr>
        <p:spPr>
          <a:xfrm rot="0">
            <a:off x="6989074" y="6328277"/>
            <a:ext cx="90678" cy="356073"/>
          </a:xfrm>
          <a:prstGeom prst="rect">
            <a:avLst/>
          </a:prstGeom>
        </p:spPr>
        <p:txBody>
          <a:bodyPr anchor="t" rtlCol="false" tIns="0" lIns="0" bIns="0" rIns="0">
            <a:spAutoFit/>
          </a:bodyPr>
          <a:lstStyle/>
          <a:p>
            <a:pPr algn="l">
              <a:lnSpc>
                <a:spcPts val="2800"/>
              </a:lnSpc>
            </a:pPr>
            <a:r>
              <a:rPr lang="en-US" sz="2000">
                <a:solidFill>
                  <a:srgbClr val="37403A"/>
                </a:solidFill>
                <a:latin typeface="Times New Roman"/>
                <a:ea typeface="Times New Roman"/>
                <a:cs typeface="Times New Roman"/>
                <a:sym typeface="Times New Roman"/>
              </a:rPr>
              <a:t>•</a:t>
            </a:r>
          </a:p>
        </p:txBody>
      </p:sp>
      <p:sp>
        <p:nvSpPr>
          <p:cNvPr name="TextBox 9" id="9"/>
          <p:cNvSpPr txBox="true"/>
          <p:nvPr/>
        </p:nvSpPr>
        <p:spPr>
          <a:xfrm rot="0">
            <a:off x="1308416" y="4752191"/>
            <a:ext cx="3911327" cy="590550"/>
          </a:xfrm>
          <a:prstGeom prst="rect">
            <a:avLst/>
          </a:prstGeom>
        </p:spPr>
        <p:txBody>
          <a:bodyPr anchor="t" rtlCol="false" tIns="0" lIns="0" bIns="0" rIns="0">
            <a:spAutoFit/>
          </a:bodyPr>
          <a:lstStyle/>
          <a:p>
            <a:pPr algn="l">
              <a:lnSpc>
                <a:spcPts val="2400"/>
              </a:lnSpc>
            </a:pPr>
            <a:r>
              <a:rPr lang="en-US" sz="2000">
                <a:solidFill>
                  <a:srgbClr val="37403A"/>
                </a:solidFill>
                <a:latin typeface="Playfair Display"/>
                <a:ea typeface="Playfair Display"/>
                <a:cs typeface="Playfair Display"/>
                <a:sym typeface="Playfair Display"/>
              </a:rPr>
              <a:t>Elevator forwards ﬂoor requests to its </a:t>
            </a:r>
            <a:r>
              <a:rPr lang="en-US" b="true" sz="2000">
                <a:solidFill>
                  <a:srgbClr val="37403A"/>
                </a:solidFill>
                <a:latin typeface="Playfair Display Bold"/>
                <a:ea typeface="Playfair Display Bold"/>
                <a:cs typeface="Playfair Display Bold"/>
                <a:sym typeface="Playfair Display Bold"/>
              </a:rPr>
              <a:t>current state</a:t>
            </a:r>
            <a:r>
              <a:rPr lang="en-US" sz="2000">
                <a:solidFill>
                  <a:srgbClr val="37403A"/>
                </a:solidFill>
                <a:latin typeface="Playfair Display"/>
                <a:ea typeface="Playfair Display"/>
                <a:cs typeface="Playfair Display"/>
                <a:sym typeface="Playfair Display"/>
              </a:rPr>
              <a:t>.</a:t>
            </a:r>
          </a:p>
        </p:txBody>
      </p:sp>
      <p:sp>
        <p:nvSpPr>
          <p:cNvPr name="TextBox 10" id="10"/>
          <p:cNvSpPr txBox="true"/>
          <p:nvPr/>
        </p:nvSpPr>
        <p:spPr>
          <a:xfrm rot="0">
            <a:off x="1308416" y="6684350"/>
            <a:ext cx="3881018" cy="590550"/>
          </a:xfrm>
          <a:prstGeom prst="rect">
            <a:avLst/>
          </a:prstGeom>
        </p:spPr>
        <p:txBody>
          <a:bodyPr anchor="t" rtlCol="false" tIns="0" lIns="0" bIns="0" rIns="0">
            <a:spAutoFit/>
          </a:bodyPr>
          <a:lstStyle/>
          <a:p>
            <a:pPr algn="l">
              <a:lnSpc>
                <a:spcPts val="2400"/>
              </a:lnSpc>
            </a:pPr>
            <a:r>
              <a:rPr lang="en-US" sz="2000">
                <a:solidFill>
                  <a:srgbClr val="37403A"/>
                </a:solidFill>
                <a:latin typeface="Playfair Display"/>
                <a:ea typeface="Playfair Display"/>
                <a:cs typeface="Playfair Display"/>
                <a:sym typeface="Playfair Display"/>
              </a:rPr>
              <a:t>States change based on user input and elevator's position.</a:t>
            </a:r>
          </a:p>
        </p:txBody>
      </p:sp>
      <p:sp>
        <p:nvSpPr>
          <p:cNvPr name="TextBox 11" id="11"/>
          <p:cNvSpPr txBox="true"/>
          <p:nvPr/>
        </p:nvSpPr>
        <p:spPr>
          <a:xfrm rot="0">
            <a:off x="1402204" y="8837000"/>
            <a:ext cx="3723751" cy="590550"/>
          </a:xfrm>
          <a:prstGeom prst="rect">
            <a:avLst/>
          </a:prstGeom>
        </p:spPr>
        <p:txBody>
          <a:bodyPr anchor="t" rtlCol="false" tIns="0" lIns="0" bIns="0" rIns="0">
            <a:spAutoFit/>
          </a:bodyPr>
          <a:lstStyle/>
          <a:p>
            <a:pPr algn="l">
              <a:lnSpc>
                <a:spcPts val="2400"/>
              </a:lnSpc>
            </a:pPr>
            <a:r>
              <a:rPr lang="en-US" b="true" sz="2000">
                <a:solidFill>
                  <a:srgbClr val="37403A"/>
                </a:solidFill>
                <a:latin typeface="Playfair Display Bold"/>
                <a:ea typeface="Playfair Display Bold"/>
                <a:cs typeface="Playfair Display Bold"/>
                <a:sym typeface="Playfair Display Bold"/>
              </a:rPr>
              <a:t>multiple simultaneous requests</a:t>
            </a:r>
            <a:r>
              <a:rPr lang="en-US" sz="2000">
                <a:solidFill>
                  <a:srgbClr val="37403A"/>
                </a:solidFill>
                <a:latin typeface="Playfair Display"/>
                <a:ea typeface="Playfair Display"/>
                <a:cs typeface="Playfair Display"/>
                <a:sym typeface="Playfair Display"/>
              </a:rPr>
              <a:t>.</a:t>
            </a:r>
          </a:p>
        </p:txBody>
      </p:sp>
      <p:sp>
        <p:nvSpPr>
          <p:cNvPr name="TextBox 12" id="12"/>
          <p:cNvSpPr txBox="true"/>
          <p:nvPr/>
        </p:nvSpPr>
        <p:spPr>
          <a:xfrm rot="0">
            <a:off x="3857297" y="173694"/>
            <a:ext cx="15539874" cy="1601368"/>
          </a:xfrm>
          <a:prstGeom prst="rect">
            <a:avLst/>
          </a:prstGeom>
        </p:spPr>
        <p:txBody>
          <a:bodyPr anchor="t" rtlCol="false" tIns="0" lIns="0" bIns="0" rIns="0">
            <a:spAutoFit/>
          </a:bodyPr>
          <a:lstStyle/>
          <a:p>
            <a:pPr algn="l">
              <a:lnSpc>
                <a:spcPts val="14150"/>
              </a:lnSpc>
            </a:pPr>
            <a:r>
              <a:rPr lang="en-US" sz="6800">
                <a:solidFill>
                  <a:srgbClr val="37403A"/>
                </a:solidFill>
                <a:latin typeface="Playfair Display"/>
                <a:ea typeface="Playfair Display"/>
                <a:cs typeface="Playfair Display"/>
                <a:sym typeface="Playfair Display"/>
              </a:rPr>
              <a:t>System Flow &amp; Architecture</a:t>
            </a:r>
          </a:p>
        </p:txBody>
      </p:sp>
      <p:sp>
        <p:nvSpPr>
          <p:cNvPr name="Freeform 13" id="13"/>
          <p:cNvSpPr/>
          <p:nvPr/>
        </p:nvSpPr>
        <p:spPr>
          <a:xfrm flipH="false" flipV="false" rot="0">
            <a:off x="6690435" y="2368435"/>
            <a:ext cx="10411933" cy="7559245"/>
          </a:xfrm>
          <a:custGeom>
            <a:avLst/>
            <a:gdLst/>
            <a:ahLst/>
            <a:cxnLst/>
            <a:rect r="r" b="b" t="t" l="l"/>
            <a:pathLst>
              <a:path h="7559245" w="10411933">
                <a:moveTo>
                  <a:pt x="0" y="0"/>
                </a:moveTo>
                <a:lnTo>
                  <a:pt x="10411934" y="0"/>
                </a:lnTo>
                <a:lnTo>
                  <a:pt x="10411934" y="7559245"/>
                </a:lnTo>
                <a:lnTo>
                  <a:pt x="0" y="7559245"/>
                </a:lnTo>
                <a:lnTo>
                  <a:pt x="0" y="0"/>
                </a:lnTo>
                <a:close/>
              </a:path>
            </a:pathLst>
          </a:custGeom>
          <a:blipFill>
            <a:blip r:embed="rId2"/>
            <a:stretch>
              <a:fillRect l="0" t="-1651" r="0" b="-1651"/>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1EADE"/>
        </a:solidFill>
      </p:bgPr>
    </p:bg>
    <p:spTree>
      <p:nvGrpSpPr>
        <p:cNvPr id="1" name=""/>
        <p:cNvGrpSpPr/>
        <p:nvPr/>
      </p:nvGrpSpPr>
      <p:grpSpPr>
        <a:xfrm>
          <a:off x="0" y="0"/>
          <a:ext cx="0" cy="0"/>
          <a:chOff x="0" y="0"/>
          <a:chExt cx="0" cy="0"/>
        </a:xfrm>
      </p:grpSpPr>
      <p:grpSp>
        <p:nvGrpSpPr>
          <p:cNvPr name="Group 2" id="2"/>
          <p:cNvGrpSpPr/>
          <p:nvPr/>
        </p:nvGrpSpPr>
        <p:grpSpPr>
          <a:xfrm rot="0">
            <a:off x="1308135" y="4606128"/>
            <a:ext cx="760247" cy="760247"/>
            <a:chOff x="0" y="0"/>
            <a:chExt cx="760247" cy="760247"/>
          </a:xfrm>
        </p:grpSpPr>
        <p:sp>
          <p:nvSpPr>
            <p:cNvPr name="Freeform 3" id="3"/>
            <p:cNvSpPr/>
            <p:nvPr/>
          </p:nvSpPr>
          <p:spPr>
            <a:xfrm flipH="false" flipV="false" rot="0">
              <a:off x="206376" y="145415"/>
              <a:ext cx="81751" cy="61087"/>
            </a:xfrm>
            <a:custGeom>
              <a:avLst/>
              <a:gdLst/>
              <a:ahLst/>
              <a:cxnLst/>
              <a:rect r="r" b="b" t="t" l="l"/>
              <a:pathLst>
                <a:path h="61087" w="81751">
                  <a:moveTo>
                    <a:pt x="10286" y="61087"/>
                  </a:moveTo>
                  <a:lnTo>
                    <a:pt x="71500" y="61087"/>
                  </a:lnTo>
                  <a:cubicBezTo>
                    <a:pt x="75437" y="61087"/>
                    <a:pt x="78866" y="58928"/>
                    <a:pt x="80644" y="55372"/>
                  </a:cubicBezTo>
                  <a:cubicBezTo>
                    <a:pt x="82422" y="51816"/>
                    <a:pt x="82041" y="47752"/>
                    <a:pt x="79628" y="44704"/>
                  </a:cubicBezTo>
                  <a:lnTo>
                    <a:pt x="49021" y="3810"/>
                  </a:lnTo>
                  <a:cubicBezTo>
                    <a:pt x="45211" y="-1270"/>
                    <a:pt x="36575" y="-1270"/>
                    <a:pt x="32638" y="3810"/>
                  </a:cubicBezTo>
                  <a:lnTo>
                    <a:pt x="2031" y="44704"/>
                  </a:lnTo>
                  <a:cubicBezTo>
                    <a:pt x="-255" y="47752"/>
                    <a:pt x="-636" y="51943"/>
                    <a:pt x="1015" y="55372"/>
                  </a:cubicBezTo>
                  <a:cubicBezTo>
                    <a:pt x="2666" y="58801"/>
                    <a:pt x="6222" y="61087"/>
                    <a:pt x="10159" y="61087"/>
                  </a:cubicBezTo>
                  <a:moveTo>
                    <a:pt x="40766" y="27051"/>
                  </a:moveTo>
                  <a:lnTo>
                    <a:pt x="50926" y="40640"/>
                  </a:lnTo>
                  <a:lnTo>
                    <a:pt x="30733" y="40640"/>
                  </a:lnTo>
                  <a:close/>
                </a:path>
              </a:pathLst>
            </a:custGeom>
            <a:solidFill>
              <a:srgbClr val="5F8262"/>
            </a:solidFill>
          </p:spPr>
        </p:sp>
        <p:sp>
          <p:nvSpPr>
            <p:cNvPr name="Freeform 4" id="4"/>
            <p:cNvSpPr/>
            <p:nvPr/>
          </p:nvSpPr>
          <p:spPr>
            <a:xfrm flipH="false" flipV="false" rot="0">
              <a:off x="328966" y="124841"/>
              <a:ext cx="81624" cy="81661"/>
            </a:xfrm>
            <a:custGeom>
              <a:avLst/>
              <a:gdLst/>
              <a:ahLst/>
              <a:cxnLst/>
              <a:rect r="r" b="b" t="t" l="l"/>
              <a:pathLst>
                <a:path h="81661" w="81624">
                  <a:moveTo>
                    <a:pt x="32730" y="77597"/>
                  </a:moveTo>
                  <a:cubicBezTo>
                    <a:pt x="34635" y="80137"/>
                    <a:pt x="37683" y="81661"/>
                    <a:pt x="40858" y="81661"/>
                  </a:cubicBezTo>
                  <a:cubicBezTo>
                    <a:pt x="44033" y="81661"/>
                    <a:pt x="47081" y="80137"/>
                    <a:pt x="48986" y="77597"/>
                  </a:cubicBezTo>
                  <a:lnTo>
                    <a:pt x="79593" y="36703"/>
                  </a:lnTo>
                  <a:cubicBezTo>
                    <a:pt x="81879" y="33655"/>
                    <a:pt x="82260" y="29464"/>
                    <a:pt x="80609" y="26035"/>
                  </a:cubicBezTo>
                  <a:cubicBezTo>
                    <a:pt x="78958" y="22606"/>
                    <a:pt x="75402" y="20320"/>
                    <a:pt x="71465" y="20320"/>
                  </a:cubicBezTo>
                  <a:lnTo>
                    <a:pt x="10251" y="20320"/>
                  </a:lnTo>
                  <a:cubicBezTo>
                    <a:pt x="6441" y="20320"/>
                    <a:pt x="2885" y="22479"/>
                    <a:pt x="1107" y="26035"/>
                  </a:cubicBezTo>
                  <a:cubicBezTo>
                    <a:pt x="-671" y="29591"/>
                    <a:pt x="-290" y="33655"/>
                    <a:pt x="2123" y="36703"/>
                  </a:cubicBezTo>
                  <a:close/>
                  <a:moveTo>
                    <a:pt x="20538" y="0"/>
                  </a:moveTo>
                  <a:lnTo>
                    <a:pt x="10378" y="13589"/>
                  </a:lnTo>
                  <a:lnTo>
                    <a:pt x="218" y="0"/>
                  </a:lnTo>
                  <a:close/>
                </a:path>
              </a:pathLst>
            </a:custGeom>
            <a:solidFill>
              <a:srgbClr val="5F8262"/>
            </a:solidFill>
          </p:spPr>
        </p:sp>
        <p:sp>
          <p:nvSpPr>
            <p:cNvPr name="Freeform 5" id="5"/>
            <p:cNvSpPr/>
            <p:nvPr/>
          </p:nvSpPr>
          <p:spPr>
            <a:xfrm flipH="false" flipV="false" rot="0">
              <a:off x="533273" y="390398"/>
              <a:ext cx="81661" cy="142875"/>
            </a:xfrm>
            <a:custGeom>
              <a:avLst/>
              <a:gdLst/>
              <a:ahLst/>
              <a:cxnLst/>
              <a:rect r="r" b="b" t="t" l="l"/>
              <a:pathLst>
                <a:path h="142875" w="81661">
                  <a:moveTo>
                    <a:pt x="71501" y="0"/>
                  </a:moveTo>
                  <a:lnTo>
                    <a:pt x="10287" y="0"/>
                  </a:lnTo>
                  <a:cubicBezTo>
                    <a:pt x="4699" y="0"/>
                    <a:pt x="0" y="4572"/>
                    <a:pt x="0" y="10160"/>
                  </a:cubicBezTo>
                  <a:lnTo>
                    <a:pt x="0" y="132715"/>
                  </a:lnTo>
                  <a:cubicBezTo>
                    <a:pt x="0" y="138430"/>
                    <a:pt x="4572" y="142875"/>
                    <a:pt x="10287" y="142875"/>
                  </a:cubicBezTo>
                  <a:lnTo>
                    <a:pt x="71501" y="142875"/>
                  </a:lnTo>
                  <a:cubicBezTo>
                    <a:pt x="77089" y="142875"/>
                    <a:pt x="81661" y="138303"/>
                    <a:pt x="81661" y="132715"/>
                  </a:cubicBezTo>
                  <a:lnTo>
                    <a:pt x="81661" y="10160"/>
                  </a:lnTo>
                  <a:cubicBezTo>
                    <a:pt x="81661" y="4572"/>
                    <a:pt x="77089" y="0"/>
                    <a:pt x="71501" y="0"/>
                  </a:cubicBezTo>
                  <a:moveTo>
                    <a:pt x="61341" y="122555"/>
                  </a:moveTo>
                  <a:lnTo>
                    <a:pt x="20447" y="122555"/>
                  </a:lnTo>
                  <a:lnTo>
                    <a:pt x="20447" y="20320"/>
                  </a:lnTo>
                  <a:lnTo>
                    <a:pt x="61341" y="20320"/>
                  </a:lnTo>
                  <a:close/>
                </a:path>
              </a:pathLst>
            </a:custGeom>
            <a:solidFill>
              <a:srgbClr val="5F8262"/>
            </a:solidFill>
          </p:spPr>
        </p:sp>
        <p:sp>
          <p:nvSpPr>
            <p:cNvPr name="Freeform 6" id="6"/>
            <p:cNvSpPr/>
            <p:nvPr/>
          </p:nvSpPr>
          <p:spPr>
            <a:xfrm flipH="false" flipV="false" rot="0">
              <a:off x="564007" y="431165"/>
              <a:ext cx="20447" cy="20447"/>
            </a:xfrm>
            <a:custGeom>
              <a:avLst/>
              <a:gdLst/>
              <a:ahLst/>
              <a:cxnLst/>
              <a:rect r="r" b="b" t="t" l="l"/>
              <a:pathLst>
                <a:path h="20447" w="20447">
                  <a:moveTo>
                    <a:pt x="0" y="20447"/>
                  </a:moveTo>
                  <a:lnTo>
                    <a:pt x="20447" y="20447"/>
                  </a:lnTo>
                  <a:lnTo>
                    <a:pt x="20447" y="0"/>
                  </a:lnTo>
                  <a:lnTo>
                    <a:pt x="0" y="0"/>
                  </a:lnTo>
                  <a:close/>
                </a:path>
              </a:pathLst>
            </a:custGeom>
            <a:solidFill>
              <a:srgbClr val="5F8262"/>
            </a:solidFill>
          </p:spPr>
        </p:sp>
        <p:sp>
          <p:nvSpPr>
            <p:cNvPr name="Freeform 7" id="7"/>
            <p:cNvSpPr/>
            <p:nvPr/>
          </p:nvSpPr>
          <p:spPr>
            <a:xfrm flipH="false" flipV="false" rot="0">
              <a:off x="564007" y="472059"/>
              <a:ext cx="20447" cy="20447"/>
            </a:xfrm>
            <a:custGeom>
              <a:avLst/>
              <a:gdLst/>
              <a:ahLst/>
              <a:cxnLst/>
              <a:rect r="r" b="b" t="t" l="l"/>
              <a:pathLst>
                <a:path h="20447" w="20447">
                  <a:moveTo>
                    <a:pt x="0" y="20447"/>
                  </a:moveTo>
                  <a:lnTo>
                    <a:pt x="20447" y="20447"/>
                  </a:lnTo>
                  <a:lnTo>
                    <a:pt x="20447" y="0"/>
                  </a:lnTo>
                  <a:lnTo>
                    <a:pt x="0" y="0"/>
                  </a:lnTo>
                  <a:close/>
                </a:path>
              </a:pathLst>
            </a:custGeom>
            <a:solidFill>
              <a:srgbClr val="5F8262"/>
            </a:solidFill>
          </p:spPr>
        </p:sp>
        <p:sp>
          <p:nvSpPr>
            <p:cNvPr name="Freeform 8" id="8"/>
            <p:cNvSpPr/>
            <p:nvPr/>
          </p:nvSpPr>
          <p:spPr>
            <a:xfrm flipH="false" flipV="false" rot="0">
              <a:off x="63500" y="63500"/>
              <a:ext cx="633222" cy="660019"/>
            </a:xfrm>
            <a:custGeom>
              <a:avLst/>
              <a:gdLst/>
              <a:ahLst/>
              <a:cxnLst/>
              <a:rect r="r" b="b" t="t" l="l"/>
              <a:pathLst>
                <a:path h="660019" w="633222">
                  <a:moveTo>
                    <a:pt x="633222" y="143002"/>
                  </a:moveTo>
                  <a:cubicBezTo>
                    <a:pt x="633222" y="64135"/>
                    <a:pt x="569087" y="0"/>
                    <a:pt x="490220" y="0"/>
                  </a:cubicBezTo>
                  <a:cubicBezTo>
                    <a:pt x="451358" y="0"/>
                    <a:pt x="416179" y="15621"/>
                    <a:pt x="390398" y="40894"/>
                  </a:cubicBezTo>
                  <a:lnTo>
                    <a:pt x="10160" y="40894"/>
                  </a:lnTo>
                  <a:cubicBezTo>
                    <a:pt x="4572" y="40894"/>
                    <a:pt x="0" y="45466"/>
                    <a:pt x="0" y="51054"/>
                  </a:cubicBezTo>
                  <a:lnTo>
                    <a:pt x="0" y="623062"/>
                  </a:lnTo>
                  <a:cubicBezTo>
                    <a:pt x="0" y="628650"/>
                    <a:pt x="4572" y="633222"/>
                    <a:pt x="10160" y="633222"/>
                  </a:cubicBezTo>
                  <a:lnTo>
                    <a:pt x="582168" y="633222"/>
                  </a:lnTo>
                  <a:cubicBezTo>
                    <a:pt x="587756" y="633222"/>
                    <a:pt x="592328" y="628650"/>
                    <a:pt x="592328" y="623062"/>
                  </a:cubicBezTo>
                  <a:lnTo>
                    <a:pt x="592328" y="242824"/>
                  </a:lnTo>
                  <a:cubicBezTo>
                    <a:pt x="617601" y="217043"/>
                    <a:pt x="633222" y="181737"/>
                    <a:pt x="633222" y="143002"/>
                  </a:cubicBezTo>
                  <a:moveTo>
                    <a:pt x="490220" y="20447"/>
                  </a:moveTo>
                  <a:cubicBezTo>
                    <a:pt x="557784" y="20447"/>
                    <a:pt x="612775" y="75438"/>
                    <a:pt x="612775" y="143002"/>
                  </a:cubicBezTo>
                  <a:cubicBezTo>
                    <a:pt x="612775" y="210566"/>
                    <a:pt x="557784" y="265557"/>
                    <a:pt x="490220" y="265557"/>
                  </a:cubicBezTo>
                  <a:cubicBezTo>
                    <a:pt x="422656" y="265557"/>
                    <a:pt x="367665" y="210566"/>
                    <a:pt x="367665" y="143002"/>
                  </a:cubicBezTo>
                  <a:cubicBezTo>
                    <a:pt x="367665" y="75438"/>
                    <a:pt x="422656" y="20447"/>
                    <a:pt x="490220" y="20447"/>
                  </a:cubicBezTo>
                  <a:moveTo>
                    <a:pt x="361315" y="204216"/>
                  </a:moveTo>
                  <a:lnTo>
                    <a:pt x="91948" y="204216"/>
                  </a:lnTo>
                  <a:cubicBezTo>
                    <a:pt x="86360" y="204216"/>
                    <a:pt x="81788" y="208788"/>
                    <a:pt x="81788" y="214376"/>
                  </a:cubicBezTo>
                  <a:lnTo>
                    <a:pt x="81788" y="612775"/>
                  </a:lnTo>
                  <a:lnTo>
                    <a:pt x="61214" y="612775"/>
                  </a:lnTo>
                  <a:lnTo>
                    <a:pt x="61214" y="183896"/>
                  </a:lnTo>
                  <a:lnTo>
                    <a:pt x="353314" y="183896"/>
                  </a:lnTo>
                  <a:cubicBezTo>
                    <a:pt x="355473" y="191008"/>
                    <a:pt x="358140" y="197739"/>
                    <a:pt x="361315" y="204343"/>
                  </a:cubicBezTo>
                  <a:moveTo>
                    <a:pt x="102235" y="224790"/>
                  </a:moveTo>
                  <a:lnTo>
                    <a:pt x="234950" y="224790"/>
                  </a:lnTo>
                  <a:lnTo>
                    <a:pt x="234950" y="612775"/>
                  </a:lnTo>
                  <a:lnTo>
                    <a:pt x="102108" y="612775"/>
                  </a:lnTo>
                  <a:close/>
                  <a:moveTo>
                    <a:pt x="255270" y="612775"/>
                  </a:moveTo>
                  <a:lnTo>
                    <a:pt x="372999" y="612775"/>
                  </a:lnTo>
                  <a:cubicBezTo>
                    <a:pt x="377571" y="619252"/>
                    <a:pt x="382524" y="625348"/>
                    <a:pt x="387985" y="630936"/>
                  </a:cubicBezTo>
                  <a:lnTo>
                    <a:pt x="387985" y="612775"/>
                  </a:lnTo>
                  <a:lnTo>
                    <a:pt x="255270" y="612775"/>
                  </a:lnTo>
                  <a:close/>
                  <a:moveTo>
                    <a:pt x="408432" y="648208"/>
                  </a:moveTo>
                  <a:cubicBezTo>
                    <a:pt x="414909" y="652780"/>
                    <a:pt x="421640" y="656590"/>
                    <a:pt x="428879" y="660019"/>
                  </a:cubicBezTo>
                  <a:lnTo>
                    <a:pt x="428879" y="612775"/>
                  </a:lnTo>
                  <a:lnTo>
                    <a:pt x="408559" y="612775"/>
                  </a:lnTo>
                  <a:close/>
                  <a:moveTo>
                    <a:pt x="20447" y="61341"/>
                  </a:moveTo>
                  <a:lnTo>
                    <a:pt x="373126" y="61341"/>
                  </a:lnTo>
                  <a:cubicBezTo>
                    <a:pt x="356870" y="84582"/>
                    <a:pt x="347345" y="112649"/>
                    <a:pt x="347345" y="143002"/>
                  </a:cubicBezTo>
                  <a:cubicBezTo>
                    <a:pt x="347345" y="149987"/>
                    <a:pt x="347980" y="156718"/>
                    <a:pt x="348996" y="163449"/>
                  </a:cubicBezTo>
                  <a:lnTo>
                    <a:pt x="51054" y="163449"/>
                  </a:lnTo>
                  <a:cubicBezTo>
                    <a:pt x="45466" y="163449"/>
                    <a:pt x="40894" y="168021"/>
                    <a:pt x="40894" y="173609"/>
                  </a:cubicBezTo>
                  <a:lnTo>
                    <a:pt x="40894" y="612775"/>
                  </a:lnTo>
                  <a:lnTo>
                    <a:pt x="20447" y="612775"/>
                  </a:lnTo>
                  <a:close/>
                  <a:moveTo>
                    <a:pt x="449453" y="612775"/>
                  </a:moveTo>
                  <a:lnTo>
                    <a:pt x="449453" y="279908"/>
                  </a:lnTo>
                  <a:cubicBezTo>
                    <a:pt x="462407" y="283718"/>
                    <a:pt x="476123" y="285877"/>
                    <a:pt x="490347" y="285877"/>
                  </a:cubicBezTo>
                  <a:cubicBezTo>
                    <a:pt x="520700" y="285877"/>
                    <a:pt x="548894" y="276225"/>
                    <a:pt x="572008" y="260096"/>
                  </a:cubicBezTo>
                  <a:lnTo>
                    <a:pt x="572008" y="612775"/>
                  </a:lnTo>
                  <a:close/>
                </a:path>
              </a:pathLst>
            </a:custGeom>
            <a:solidFill>
              <a:srgbClr val="5F8262"/>
            </a:solidFill>
          </p:spPr>
        </p:sp>
        <p:sp>
          <p:nvSpPr>
            <p:cNvPr name="Freeform 9" id="9"/>
            <p:cNvSpPr/>
            <p:nvPr/>
          </p:nvSpPr>
          <p:spPr>
            <a:xfrm flipH="false" flipV="false" rot="0">
              <a:off x="492633" y="94030"/>
              <a:ext cx="122428" cy="224994"/>
            </a:xfrm>
            <a:custGeom>
              <a:avLst/>
              <a:gdLst/>
              <a:ahLst/>
              <a:cxnLst/>
              <a:rect r="r" b="b" t="t" l="l"/>
              <a:pathLst>
                <a:path h="224994" w="122428">
                  <a:moveTo>
                    <a:pt x="30480" y="106757"/>
                  </a:moveTo>
                  <a:lnTo>
                    <a:pt x="30480" y="157176"/>
                  </a:lnTo>
                  <a:cubicBezTo>
                    <a:pt x="24003" y="164669"/>
                    <a:pt x="20320" y="174194"/>
                    <a:pt x="20320" y="184100"/>
                  </a:cubicBezTo>
                  <a:cubicBezTo>
                    <a:pt x="20320" y="206579"/>
                    <a:pt x="38608" y="224994"/>
                    <a:pt x="61214" y="224994"/>
                  </a:cubicBezTo>
                  <a:cubicBezTo>
                    <a:pt x="83820" y="224994"/>
                    <a:pt x="102108" y="206706"/>
                    <a:pt x="102108" y="184100"/>
                  </a:cubicBezTo>
                  <a:cubicBezTo>
                    <a:pt x="102108" y="174194"/>
                    <a:pt x="98425" y="164669"/>
                    <a:pt x="91821" y="157176"/>
                  </a:cubicBezTo>
                  <a:lnTo>
                    <a:pt x="91821" y="106757"/>
                  </a:lnTo>
                  <a:cubicBezTo>
                    <a:pt x="110617" y="96216"/>
                    <a:pt x="122428" y="76785"/>
                    <a:pt x="122428" y="55322"/>
                  </a:cubicBezTo>
                  <a:cubicBezTo>
                    <a:pt x="122428" y="31700"/>
                    <a:pt x="107950" y="10364"/>
                    <a:pt x="85598" y="839"/>
                  </a:cubicBezTo>
                  <a:cubicBezTo>
                    <a:pt x="82423" y="-558"/>
                    <a:pt x="78867" y="-177"/>
                    <a:pt x="75946" y="1728"/>
                  </a:cubicBezTo>
                  <a:cubicBezTo>
                    <a:pt x="73025" y="3633"/>
                    <a:pt x="71374" y="6808"/>
                    <a:pt x="71374" y="10237"/>
                  </a:cubicBezTo>
                  <a:lnTo>
                    <a:pt x="71374" y="41098"/>
                  </a:lnTo>
                  <a:lnTo>
                    <a:pt x="61214" y="50877"/>
                  </a:lnTo>
                  <a:lnTo>
                    <a:pt x="51054" y="41098"/>
                  </a:lnTo>
                  <a:lnTo>
                    <a:pt x="51054" y="10364"/>
                  </a:lnTo>
                  <a:cubicBezTo>
                    <a:pt x="51054" y="6935"/>
                    <a:pt x="49403" y="3760"/>
                    <a:pt x="46482" y="1855"/>
                  </a:cubicBezTo>
                  <a:cubicBezTo>
                    <a:pt x="43561" y="-50"/>
                    <a:pt x="40005" y="-431"/>
                    <a:pt x="36830" y="966"/>
                  </a:cubicBezTo>
                  <a:cubicBezTo>
                    <a:pt x="14478" y="10364"/>
                    <a:pt x="0" y="31827"/>
                    <a:pt x="0" y="55449"/>
                  </a:cubicBezTo>
                  <a:cubicBezTo>
                    <a:pt x="0" y="76785"/>
                    <a:pt x="11811" y="96343"/>
                    <a:pt x="30607" y="106884"/>
                  </a:cubicBezTo>
                  <a:moveTo>
                    <a:pt x="30607" y="29795"/>
                  </a:moveTo>
                  <a:lnTo>
                    <a:pt x="30607" y="45670"/>
                  </a:lnTo>
                  <a:cubicBezTo>
                    <a:pt x="30607" y="48464"/>
                    <a:pt x="31750" y="51131"/>
                    <a:pt x="33782" y="53036"/>
                  </a:cubicBezTo>
                  <a:lnTo>
                    <a:pt x="54229" y="72721"/>
                  </a:lnTo>
                  <a:cubicBezTo>
                    <a:pt x="58166" y="76531"/>
                    <a:pt x="64389" y="76531"/>
                    <a:pt x="68453" y="72721"/>
                  </a:cubicBezTo>
                  <a:lnTo>
                    <a:pt x="88900" y="53036"/>
                  </a:lnTo>
                  <a:cubicBezTo>
                    <a:pt x="90932" y="51131"/>
                    <a:pt x="92075" y="48464"/>
                    <a:pt x="92075" y="45670"/>
                  </a:cubicBezTo>
                  <a:lnTo>
                    <a:pt x="92075" y="29668"/>
                  </a:lnTo>
                  <a:cubicBezTo>
                    <a:pt x="98552" y="36653"/>
                    <a:pt x="102362" y="45797"/>
                    <a:pt x="102362" y="55449"/>
                  </a:cubicBezTo>
                  <a:cubicBezTo>
                    <a:pt x="102362" y="70816"/>
                    <a:pt x="92710" y="84786"/>
                    <a:pt x="77978" y="91009"/>
                  </a:cubicBezTo>
                  <a:cubicBezTo>
                    <a:pt x="74168" y="92660"/>
                    <a:pt x="71755" y="96343"/>
                    <a:pt x="71755" y="100407"/>
                  </a:cubicBezTo>
                  <a:lnTo>
                    <a:pt x="71755" y="161367"/>
                  </a:lnTo>
                  <a:cubicBezTo>
                    <a:pt x="71755" y="164288"/>
                    <a:pt x="73025" y="166955"/>
                    <a:pt x="75184" y="168987"/>
                  </a:cubicBezTo>
                  <a:cubicBezTo>
                    <a:pt x="79629" y="172924"/>
                    <a:pt x="82042" y="178385"/>
                    <a:pt x="82042" y="184100"/>
                  </a:cubicBezTo>
                  <a:cubicBezTo>
                    <a:pt x="82042" y="195403"/>
                    <a:pt x="72898" y="204547"/>
                    <a:pt x="61595" y="204547"/>
                  </a:cubicBezTo>
                  <a:cubicBezTo>
                    <a:pt x="50292" y="204547"/>
                    <a:pt x="41148" y="195403"/>
                    <a:pt x="41148" y="184100"/>
                  </a:cubicBezTo>
                  <a:cubicBezTo>
                    <a:pt x="41148" y="178385"/>
                    <a:pt x="43561" y="172924"/>
                    <a:pt x="48006" y="168987"/>
                  </a:cubicBezTo>
                  <a:cubicBezTo>
                    <a:pt x="50165" y="167082"/>
                    <a:pt x="51435" y="164288"/>
                    <a:pt x="51435" y="161367"/>
                  </a:cubicBezTo>
                  <a:lnTo>
                    <a:pt x="51435" y="100407"/>
                  </a:lnTo>
                  <a:cubicBezTo>
                    <a:pt x="51435" y="96343"/>
                    <a:pt x="49022" y="92660"/>
                    <a:pt x="45212" y="91009"/>
                  </a:cubicBezTo>
                  <a:cubicBezTo>
                    <a:pt x="30353" y="84786"/>
                    <a:pt x="20828" y="70816"/>
                    <a:pt x="20828" y="55449"/>
                  </a:cubicBezTo>
                  <a:cubicBezTo>
                    <a:pt x="20828" y="45797"/>
                    <a:pt x="24638" y="36780"/>
                    <a:pt x="30988" y="29795"/>
                  </a:cubicBezTo>
                </a:path>
              </a:pathLst>
            </a:custGeom>
            <a:solidFill>
              <a:srgbClr val="5F8262"/>
            </a:solidFill>
          </p:spPr>
        </p:sp>
      </p:grpSp>
      <p:grpSp>
        <p:nvGrpSpPr>
          <p:cNvPr name="Group 10" id="10"/>
          <p:cNvGrpSpPr/>
          <p:nvPr/>
        </p:nvGrpSpPr>
        <p:grpSpPr>
          <a:xfrm rot="0">
            <a:off x="4916957" y="5366385"/>
            <a:ext cx="28575" cy="3800475"/>
            <a:chOff x="0" y="0"/>
            <a:chExt cx="28575" cy="3800475"/>
          </a:xfrm>
        </p:grpSpPr>
        <p:sp>
          <p:nvSpPr>
            <p:cNvPr name="Freeform 11" id="11"/>
            <p:cNvSpPr/>
            <p:nvPr/>
          </p:nvSpPr>
          <p:spPr>
            <a:xfrm flipH="false" flipV="false" rot="0">
              <a:off x="0" y="0"/>
              <a:ext cx="28575" cy="3800475"/>
            </a:xfrm>
            <a:custGeom>
              <a:avLst/>
              <a:gdLst/>
              <a:ahLst/>
              <a:cxnLst/>
              <a:rect r="r" b="b" t="t" l="l"/>
              <a:pathLst>
                <a:path h="3800475" w="28575">
                  <a:moveTo>
                    <a:pt x="0" y="3657600"/>
                  </a:moveTo>
                  <a:lnTo>
                    <a:pt x="0" y="3571875"/>
                  </a:lnTo>
                  <a:lnTo>
                    <a:pt x="28575" y="3571875"/>
                  </a:lnTo>
                  <a:lnTo>
                    <a:pt x="28575" y="3657600"/>
                  </a:lnTo>
                  <a:close/>
                  <a:moveTo>
                    <a:pt x="28575" y="3514725"/>
                  </a:moveTo>
                  <a:lnTo>
                    <a:pt x="28575" y="3429000"/>
                  </a:lnTo>
                  <a:lnTo>
                    <a:pt x="28575" y="3514725"/>
                  </a:lnTo>
                  <a:close/>
                  <a:moveTo>
                    <a:pt x="0" y="3371850"/>
                  </a:moveTo>
                  <a:lnTo>
                    <a:pt x="0" y="3286125"/>
                  </a:lnTo>
                  <a:lnTo>
                    <a:pt x="28575" y="3286125"/>
                  </a:lnTo>
                  <a:lnTo>
                    <a:pt x="28575" y="3371850"/>
                  </a:lnTo>
                  <a:close/>
                  <a:moveTo>
                    <a:pt x="28575" y="3228975"/>
                  </a:moveTo>
                  <a:lnTo>
                    <a:pt x="28575" y="3143250"/>
                  </a:lnTo>
                  <a:lnTo>
                    <a:pt x="28575" y="3228975"/>
                  </a:lnTo>
                  <a:close/>
                  <a:moveTo>
                    <a:pt x="0" y="3086100"/>
                  </a:moveTo>
                  <a:lnTo>
                    <a:pt x="0" y="3000375"/>
                  </a:lnTo>
                  <a:lnTo>
                    <a:pt x="28575" y="3000375"/>
                  </a:lnTo>
                  <a:lnTo>
                    <a:pt x="28575" y="3086100"/>
                  </a:lnTo>
                  <a:close/>
                  <a:moveTo>
                    <a:pt x="28575" y="2943225"/>
                  </a:moveTo>
                  <a:lnTo>
                    <a:pt x="28575" y="2857500"/>
                  </a:lnTo>
                  <a:lnTo>
                    <a:pt x="28575" y="2943225"/>
                  </a:lnTo>
                  <a:close/>
                  <a:moveTo>
                    <a:pt x="0" y="2800350"/>
                  </a:moveTo>
                  <a:lnTo>
                    <a:pt x="0" y="2714625"/>
                  </a:lnTo>
                  <a:lnTo>
                    <a:pt x="28575" y="2714625"/>
                  </a:lnTo>
                  <a:lnTo>
                    <a:pt x="28575" y="2800350"/>
                  </a:lnTo>
                  <a:close/>
                  <a:moveTo>
                    <a:pt x="28575" y="2657475"/>
                  </a:moveTo>
                  <a:lnTo>
                    <a:pt x="28575" y="2571750"/>
                  </a:lnTo>
                  <a:lnTo>
                    <a:pt x="28575" y="2657475"/>
                  </a:lnTo>
                  <a:close/>
                  <a:moveTo>
                    <a:pt x="0" y="2514600"/>
                  </a:moveTo>
                  <a:lnTo>
                    <a:pt x="0" y="2428875"/>
                  </a:lnTo>
                  <a:lnTo>
                    <a:pt x="28575" y="2428875"/>
                  </a:lnTo>
                  <a:lnTo>
                    <a:pt x="28575" y="2514600"/>
                  </a:lnTo>
                  <a:close/>
                  <a:moveTo>
                    <a:pt x="28575" y="2371725"/>
                  </a:moveTo>
                  <a:lnTo>
                    <a:pt x="28575" y="2286000"/>
                  </a:lnTo>
                  <a:lnTo>
                    <a:pt x="28575" y="2371725"/>
                  </a:lnTo>
                  <a:close/>
                  <a:moveTo>
                    <a:pt x="0" y="2228850"/>
                  </a:moveTo>
                  <a:lnTo>
                    <a:pt x="0" y="2143125"/>
                  </a:lnTo>
                  <a:lnTo>
                    <a:pt x="28575" y="2143125"/>
                  </a:lnTo>
                  <a:lnTo>
                    <a:pt x="28575" y="2228850"/>
                  </a:lnTo>
                  <a:close/>
                  <a:moveTo>
                    <a:pt x="28575" y="2085975"/>
                  </a:moveTo>
                  <a:lnTo>
                    <a:pt x="28575" y="2000250"/>
                  </a:lnTo>
                  <a:lnTo>
                    <a:pt x="28575" y="2085975"/>
                  </a:lnTo>
                  <a:close/>
                  <a:moveTo>
                    <a:pt x="0" y="1943100"/>
                  </a:moveTo>
                  <a:lnTo>
                    <a:pt x="0" y="1857375"/>
                  </a:lnTo>
                  <a:lnTo>
                    <a:pt x="28575" y="1857375"/>
                  </a:lnTo>
                  <a:lnTo>
                    <a:pt x="28575" y="1943100"/>
                  </a:lnTo>
                  <a:close/>
                  <a:moveTo>
                    <a:pt x="28575" y="1800225"/>
                  </a:moveTo>
                  <a:lnTo>
                    <a:pt x="28575" y="1714500"/>
                  </a:lnTo>
                  <a:lnTo>
                    <a:pt x="28575" y="1800225"/>
                  </a:lnTo>
                  <a:close/>
                  <a:moveTo>
                    <a:pt x="0" y="1657350"/>
                  </a:moveTo>
                  <a:lnTo>
                    <a:pt x="0" y="1571625"/>
                  </a:lnTo>
                  <a:lnTo>
                    <a:pt x="28575" y="1571625"/>
                  </a:lnTo>
                  <a:lnTo>
                    <a:pt x="28575" y="1657350"/>
                  </a:lnTo>
                  <a:close/>
                  <a:moveTo>
                    <a:pt x="28575" y="1514475"/>
                  </a:moveTo>
                  <a:lnTo>
                    <a:pt x="28575" y="1428750"/>
                  </a:lnTo>
                  <a:lnTo>
                    <a:pt x="28575" y="1514475"/>
                  </a:lnTo>
                  <a:close/>
                  <a:moveTo>
                    <a:pt x="0" y="1371600"/>
                  </a:moveTo>
                  <a:lnTo>
                    <a:pt x="0" y="1285875"/>
                  </a:lnTo>
                  <a:lnTo>
                    <a:pt x="28575" y="1285875"/>
                  </a:lnTo>
                  <a:lnTo>
                    <a:pt x="28575" y="1371600"/>
                  </a:lnTo>
                  <a:close/>
                  <a:moveTo>
                    <a:pt x="0" y="1228725"/>
                  </a:moveTo>
                  <a:lnTo>
                    <a:pt x="0" y="1143000"/>
                  </a:lnTo>
                  <a:lnTo>
                    <a:pt x="28575" y="1143000"/>
                  </a:lnTo>
                  <a:lnTo>
                    <a:pt x="28575" y="1228725"/>
                  </a:lnTo>
                  <a:close/>
                  <a:moveTo>
                    <a:pt x="0" y="1085850"/>
                  </a:moveTo>
                  <a:lnTo>
                    <a:pt x="0" y="1000125"/>
                  </a:lnTo>
                  <a:lnTo>
                    <a:pt x="28575" y="1000125"/>
                  </a:lnTo>
                  <a:lnTo>
                    <a:pt x="28575" y="1085850"/>
                  </a:lnTo>
                  <a:close/>
                  <a:moveTo>
                    <a:pt x="0" y="942975"/>
                  </a:moveTo>
                  <a:lnTo>
                    <a:pt x="0" y="857250"/>
                  </a:lnTo>
                  <a:lnTo>
                    <a:pt x="28575" y="857250"/>
                  </a:lnTo>
                  <a:lnTo>
                    <a:pt x="28575" y="942975"/>
                  </a:lnTo>
                  <a:close/>
                  <a:moveTo>
                    <a:pt x="0" y="800100"/>
                  </a:moveTo>
                  <a:lnTo>
                    <a:pt x="0" y="714375"/>
                  </a:lnTo>
                  <a:lnTo>
                    <a:pt x="28575" y="714375"/>
                  </a:lnTo>
                  <a:lnTo>
                    <a:pt x="28575" y="800100"/>
                  </a:lnTo>
                  <a:close/>
                  <a:moveTo>
                    <a:pt x="0" y="657225"/>
                  </a:moveTo>
                  <a:lnTo>
                    <a:pt x="0" y="571500"/>
                  </a:lnTo>
                  <a:lnTo>
                    <a:pt x="28575" y="571500"/>
                  </a:lnTo>
                  <a:lnTo>
                    <a:pt x="28575" y="657225"/>
                  </a:lnTo>
                  <a:close/>
                  <a:moveTo>
                    <a:pt x="0" y="514350"/>
                  </a:moveTo>
                  <a:lnTo>
                    <a:pt x="0" y="428625"/>
                  </a:lnTo>
                  <a:lnTo>
                    <a:pt x="28575" y="428625"/>
                  </a:lnTo>
                  <a:lnTo>
                    <a:pt x="28575" y="514350"/>
                  </a:lnTo>
                  <a:close/>
                  <a:moveTo>
                    <a:pt x="0" y="371475"/>
                  </a:moveTo>
                  <a:lnTo>
                    <a:pt x="0" y="285750"/>
                  </a:lnTo>
                  <a:lnTo>
                    <a:pt x="28575" y="285750"/>
                  </a:lnTo>
                  <a:lnTo>
                    <a:pt x="28575" y="371475"/>
                  </a:lnTo>
                  <a:close/>
                  <a:moveTo>
                    <a:pt x="0" y="228600"/>
                  </a:moveTo>
                  <a:lnTo>
                    <a:pt x="0" y="142875"/>
                  </a:lnTo>
                  <a:lnTo>
                    <a:pt x="28575" y="142875"/>
                  </a:lnTo>
                  <a:lnTo>
                    <a:pt x="28575" y="228600"/>
                  </a:lnTo>
                  <a:close/>
                  <a:moveTo>
                    <a:pt x="0" y="85725"/>
                  </a:moveTo>
                  <a:lnTo>
                    <a:pt x="0" y="0"/>
                  </a:lnTo>
                  <a:lnTo>
                    <a:pt x="28575" y="0"/>
                  </a:lnTo>
                  <a:lnTo>
                    <a:pt x="28575" y="85725"/>
                  </a:lnTo>
                  <a:close/>
                  <a:moveTo>
                    <a:pt x="28575" y="3800475"/>
                  </a:moveTo>
                  <a:lnTo>
                    <a:pt x="28575" y="3714750"/>
                  </a:lnTo>
                  <a:lnTo>
                    <a:pt x="28575" y="3800475"/>
                  </a:lnTo>
                  <a:close/>
                </a:path>
              </a:pathLst>
            </a:custGeom>
            <a:solidFill>
              <a:srgbClr val="5F8262"/>
            </a:solidFill>
          </p:spPr>
        </p:sp>
      </p:grpSp>
      <p:sp>
        <p:nvSpPr>
          <p:cNvPr name="Freeform 12" id="12"/>
          <p:cNvSpPr/>
          <p:nvPr/>
        </p:nvSpPr>
        <p:spPr>
          <a:xfrm flipH="false" flipV="false" rot="0">
            <a:off x="5583384" y="4668193"/>
            <a:ext cx="1260767" cy="631031"/>
          </a:xfrm>
          <a:custGeom>
            <a:avLst/>
            <a:gdLst/>
            <a:ahLst/>
            <a:cxnLst/>
            <a:rect r="r" b="b" t="t" l="l"/>
            <a:pathLst>
              <a:path h="631031" w="1260767">
                <a:moveTo>
                  <a:pt x="0" y="0"/>
                </a:moveTo>
                <a:lnTo>
                  <a:pt x="1260767" y="0"/>
                </a:lnTo>
                <a:lnTo>
                  <a:pt x="1260767" y="631031"/>
                </a:lnTo>
                <a:lnTo>
                  <a:pt x="0" y="6310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0">
            <a:off x="9144000" y="5299224"/>
            <a:ext cx="28575" cy="3800475"/>
            <a:chOff x="0" y="0"/>
            <a:chExt cx="28575" cy="3800475"/>
          </a:xfrm>
        </p:grpSpPr>
        <p:sp>
          <p:nvSpPr>
            <p:cNvPr name="Freeform 14" id="14"/>
            <p:cNvSpPr/>
            <p:nvPr/>
          </p:nvSpPr>
          <p:spPr>
            <a:xfrm flipH="false" flipV="false" rot="0">
              <a:off x="0" y="0"/>
              <a:ext cx="28575" cy="3800475"/>
            </a:xfrm>
            <a:custGeom>
              <a:avLst/>
              <a:gdLst/>
              <a:ahLst/>
              <a:cxnLst/>
              <a:rect r="r" b="b" t="t" l="l"/>
              <a:pathLst>
                <a:path h="3800475" w="28575">
                  <a:moveTo>
                    <a:pt x="0" y="3657600"/>
                  </a:moveTo>
                  <a:lnTo>
                    <a:pt x="0" y="3571875"/>
                  </a:lnTo>
                  <a:lnTo>
                    <a:pt x="28575" y="3571875"/>
                  </a:lnTo>
                  <a:lnTo>
                    <a:pt x="28575" y="3657600"/>
                  </a:lnTo>
                  <a:close/>
                  <a:moveTo>
                    <a:pt x="28575" y="3514725"/>
                  </a:moveTo>
                  <a:lnTo>
                    <a:pt x="28575" y="3429000"/>
                  </a:lnTo>
                  <a:lnTo>
                    <a:pt x="28575" y="3514725"/>
                  </a:lnTo>
                  <a:close/>
                  <a:moveTo>
                    <a:pt x="0" y="3371850"/>
                  </a:moveTo>
                  <a:lnTo>
                    <a:pt x="0" y="3286125"/>
                  </a:lnTo>
                  <a:lnTo>
                    <a:pt x="28575" y="3286125"/>
                  </a:lnTo>
                  <a:lnTo>
                    <a:pt x="28575" y="3371850"/>
                  </a:lnTo>
                  <a:close/>
                  <a:moveTo>
                    <a:pt x="28575" y="3228975"/>
                  </a:moveTo>
                  <a:lnTo>
                    <a:pt x="28575" y="3143250"/>
                  </a:lnTo>
                  <a:lnTo>
                    <a:pt x="28575" y="3228975"/>
                  </a:lnTo>
                  <a:close/>
                  <a:moveTo>
                    <a:pt x="0" y="3086100"/>
                  </a:moveTo>
                  <a:lnTo>
                    <a:pt x="0" y="3000375"/>
                  </a:lnTo>
                  <a:lnTo>
                    <a:pt x="28575" y="3000375"/>
                  </a:lnTo>
                  <a:lnTo>
                    <a:pt x="28575" y="3086100"/>
                  </a:lnTo>
                  <a:close/>
                  <a:moveTo>
                    <a:pt x="28575" y="2943225"/>
                  </a:moveTo>
                  <a:lnTo>
                    <a:pt x="28575" y="2857500"/>
                  </a:lnTo>
                  <a:lnTo>
                    <a:pt x="28575" y="2943225"/>
                  </a:lnTo>
                  <a:close/>
                  <a:moveTo>
                    <a:pt x="0" y="2800350"/>
                  </a:moveTo>
                  <a:lnTo>
                    <a:pt x="0" y="2714625"/>
                  </a:lnTo>
                  <a:lnTo>
                    <a:pt x="28575" y="2714625"/>
                  </a:lnTo>
                  <a:lnTo>
                    <a:pt x="28575" y="2800350"/>
                  </a:lnTo>
                  <a:close/>
                  <a:moveTo>
                    <a:pt x="28575" y="2657475"/>
                  </a:moveTo>
                  <a:lnTo>
                    <a:pt x="28575" y="2571750"/>
                  </a:lnTo>
                  <a:lnTo>
                    <a:pt x="28575" y="2657475"/>
                  </a:lnTo>
                  <a:close/>
                  <a:moveTo>
                    <a:pt x="0" y="2514600"/>
                  </a:moveTo>
                  <a:lnTo>
                    <a:pt x="0" y="2428875"/>
                  </a:lnTo>
                  <a:lnTo>
                    <a:pt x="28575" y="2428875"/>
                  </a:lnTo>
                  <a:lnTo>
                    <a:pt x="28575" y="2514600"/>
                  </a:lnTo>
                  <a:close/>
                  <a:moveTo>
                    <a:pt x="28575" y="2371725"/>
                  </a:moveTo>
                  <a:lnTo>
                    <a:pt x="28575" y="2286000"/>
                  </a:lnTo>
                  <a:lnTo>
                    <a:pt x="28575" y="2371725"/>
                  </a:lnTo>
                  <a:close/>
                  <a:moveTo>
                    <a:pt x="0" y="2228850"/>
                  </a:moveTo>
                  <a:lnTo>
                    <a:pt x="0" y="2143125"/>
                  </a:lnTo>
                  <a:lnTo>
                    <a:pt x="28575" y="2143125"/>
                  </a:lnTo>
                  <a:lnTo>
                    <a:pt x="28575" y="2228850"/>
                  </a:lnTo>
                  <a:close/>
                  <a:moveTo>
                    <a:pt x="28575" y="2085975"/>
                  </a:moveTo>
                  <a:lnTo>
                    <a:pt x="28575" y="2000250"/>
                  </a:lnTo>
                  <a:lnTo>
                    <a:pt x="28575" y="2085975"/>
                  </a:lnTo>
                  <a:close/>
                  <a:moveTo>
                    <a:pt x="0" y="1943100"/>
                  </a:moveTo>
                  <a:lnTo>
                    <a:pt x="0" y="1857375"/>
                  </a:lnTo>
                  <a:lnTo>
                    <a:pt x="28575" y="1857375"/>
                  </a:lnTo>
                  <a:lnTo>
                    <a:pt x="28575" y="1943100"/>
                  </a:lnTo>
                  <a:close/>
                  <a:moveTo>
                    <a:pt x="28575" y="1800225"/>
                  </a:moveTo>
                  <a:lnTo>
                    <a:pt x="28575" y="1714500"/>
                  </a:lnTo>
                  <a:lnTo>
                    <a:pt x="28575" y="1800225"/>
                  </a:lnTo>
                  <a:close/>
                  <a:moveTo>
                    <a:pt x="0" y="1657350"/>
                  </a:moveTo>
                  <a:lnTo>
                    <a:pt x="0" y="1571625"/>
                  </a:lnTo>
                  <a:lnTo>
                    <a:pt x="28575" y="1571625"/>
                  </a:lnTo>
                  <a:lnTo>
                    <a:pt x="28575" y="1657350"/>
                  </a:lnTo>
                  <a:close/>
                  <a:moveTo>
                    <a:pt x="28575" y="1514475"/>
                  </a:moveTo>
                  <a:lnTo>
                    <a:pt x="28575" y="1428750"/>
                  </a:lnTo>
                  <a:lnTo>
                    <a:pt x="28575" y="1514475"/>
                  </a:lnTo>
                  <a:close/>
                  <a:moveTo>
                    <a:pt x="0" y="1371600"/>
                  </a:moveTo>
                  <a:lnTo>
                    <a:pt x="0" y="1285875"/>
                  </a:lnTo>
                  <a:lnTo>
                    <a:pt x="28575" y="1285875"/>
                  </a:lnTo>
                  <a:lnTo>
                    <a:pt x="28575" y="1371600"/>
                  </a:lnTo>
                  <a:close/>
                  <a:moveTo>
                    <a:pt x="0" y="1228725"/>
                  </a:moveTo>
                  <a:lnTo>
                    <a:pt x="0" y="1143000"/>
                  </a:lnTo>
                  <a:lnTo>
                    <a:pt x="28575" y="1143000"/>
                  </a:lnTo>
                  <a:lnTo>
                    <a:pt x="28575" y="1228725"/>
                  </a:lnTo>
                  <a:close/>
                  <a:moveTo>
                    <a:pt x="0" y="1085850"/>
                  </a:moveTo>
                  <a:lnTo>
                    <a:pt x="0" y="1000125"/>
                  </a:lnTo>
                  <a:lnTo>
                    <a:pt x="28575" y="1000125"/>
                  </a:lnTo>
                  <a:lnTo>
                    <a:pt x="28575" y="1085850"/>
                  </a:lnTo>
                  <a:close/>
                  <a:moveTo>
                    <a:pt x="0" y="942975"/>
                  </a:moveTo>
                  <a:lnTo>
                    <a:pt x="0" y="857250"/>
                  </a:lnTo>
                  <a:lnTo>
                    <a:pt x="28575" y="857250"/>
                  </a:lnTo>
                  <a:lnTo>
                    <a:pt x="28575" y="942975"/>
                  </a:lnTo>
                  <a:close/>
                  <a:moveTo>
                    <a:pt x="0" y="800100"/>
                  </a:moveTo>
                  <a:lnTo>
                    <a:pt x="0" y="714375"/>
                  </a:lnTo>
                  <a:lnTo>
                    <a:pt x="28575" y="714375"/>
                  </a:lnTo>
                  <a:lnTo>
                    <a:pt x="28575" y="800100"/>
                  </a:lnTo>
                  <a:close/>
                  <a:moveTo>
                    <a:pt x="0" y="657225"/>
                  </a:moveTo>
                  <a:lnTo>
                    <a:pt x="0" y="571500"/>
                  </a:lnTo>
                  <a:lnTo>
                    <a:pt x="28575" y="571500"/>
                  </a:lnTo>
                  <a:lnTo>
                    <a:pt x="28575" y="657225"/>
                  </a:lnTo>
                  <a:close/>
                  <a:moveTo>
                    <a:pt x="0" y="514350"/>
                  </a:moveTo>
                  <a:lnTo>
                    <a:pt x="0" y="428625"/>
                  </a:lnTo>
                  <a:lnTo>
                    <a:pt x="28575" y="428625"/>
                  </a:lnTo>
                  <a:lnTo>
                    <a:pt x="28575" y="514350"/>
                  </a:lnTo>
                  <a:close/>
                  <a:moveTo>
                    <a:pt x="0" y="371475"/>
                  </a:moveTo>
                  <a:lnTo>
                    <a:pt x="0" y="285750"/>
                  </a:lnTo>
                  <a:lnTo>
                    <a:pt x="28575" y="285750"/>
                  </a:lnTo>
                  <a:lnTo>
                    <a:pt x="28575" y="371475"/>
                  </a:lnTo>
                  <a:close/>
                  <a:moveTo>
                    <a:pt x="0" y="228600"/>
                  </a:moveTo>
                  <a:lnTo>
                    <a:pt x="0" y="142875"/>
                  </a:lnTo>
                  <a:lnTo>
                    <a:pt x="28575" y="142875"/>
                  </a:lnTo>
                  <a:lnTo>
                    <a:pt x="28575" y="228600"/>
                  </a:lnTo>
                  <a:close/>
                  <a:moveTo>
                    <a:pt x="0" y="85725"/>
                  </a:moveTo>
                  <a:lnTo>
                    <a:pt x="0" y="0"/>
                  </a:lnTo>
                  <a:lnTo>
                    <a:pt x="28575" y="0"/>
                  </a:lnTo>
                  <a:lnTo>
                    <a:pt x="28575" y="85725"/>
                  </a:lnTo>
                  <a:close/>
                  <a:moveTo>
                    <a:pt x="28575" y="3800475"/>
                  </a:moveTo>
                  <a:lnTo>
                    <a:pt x="28575" y="3714750"/>
                  </a:lnTo>
                  <a:lnTo>
                    <a:pt x="28575" y="3800475"/>
                  </a:lnTo>
                  <a:close/>
                </a:path>
              </a:pathLst>
            </a:custGeom>
            <a:solidFill>
              <a:srgbClr val="5F8262"/>
            </a:solidFill>
          </p:spPr>
        </p:sp>
      </p:grpSp>
      <p:grpSp>
        <p:nvGrpSpPr>
          <p:cNvPr name="Group 15" id="15"/>
          <p:cNvGrpSpPr/>
          <p:nvPr/>
        </p:nvGrpSpPr>
        <p:grpSpPr>
          <a:xfrm rot="0">
            <a:off x="9732312" y="4606128"/>
            <a:ext cx="652082" cy="760257"/>
            <a:chOff x="0" y="0"/>
            <a:chExt cx="652082" cy="760260"/>
          </a:xfrm>
        </p:grpSpPr>
        <p:sp>
          <p:nvSpPr>
            <p:cNvPr name="Freeform 16" id="16"/>
            <p:cNvSpPr/>
            <p:nvPr/>
          </p:nvSpPr>
          <p:spPr>
            <a:xfrm flipH="false" flipV="false" rot="0">
              <a:off x="252222" y="89916"/>
              <a:ext cx="148971" cy="52705"/>
            </a:xfrm>
            <a:custGeom>
              <a:avLst/>
              <a:gdLst/>
              <a:ahLst/>
              <a:cxnLst/>
              <a:rect r="r" b="b" t="t" l="l"/>
              <a:pathLst>
                <a:path h="52705" w="148971">
                  <a:moveTo>
                    <a:pt x="7874" y="52705"/>
                  </a:moveTo>
                  <a:lnTo>
                    <a:pt x="141097" y="52705"/>
                  </a:lnTo>
                  <a:cubicBezTo>
                    <a:pt x="145415" y="52705"/>
                    <a:pt x="148971" y="49149"/>
                    <a:pt x="148971" y="44831"/>
                  </a:cubicBezTo>
                  <a:lnTo>
                    <a:pt x="148971" y="7874"/>
                  </a:lnTo>
                  <a:cubicBezTo>
                    <a:pt x="148971" y="3556"/>
                    <a:pt x="145415" y="0"/>
                    <a:pt x="141097" y="0"/>
                  </a:cubicBezTo>
                  <a:lnTo>
                    <a:pt x="7874" y="0"/>
                  </a:lnTo>
                  <a:cubicBezTo>
                    <a:pt x="3556" y="0"/>
                    <a:pt x="0" y="3556"/>
                    <a:pt x="0" y="7874"/>
                  </a:cubicBezTo>
                  <a:lnTo>
                    <a:pt x="0" y="44831"/>
                  </a:lnTo>
                  <a:cubicBezTo>
                    <a:pt x="0" y="49149"/>
                    <a:pt x="3556" y="52705"/>
                    <a:pt x="7874" y="52705"/>
                  </a:cubicBezTo>
                  <a:moveTo>
                    <a:pt x="15748" y="15748"/>
                  </a:moveTo>
                  <a:lnTo>
                    <a:pt x="131826" y="15748"/>
                  </a:lnTo>
                  <a:lnTo>
                    <a:pt x="131826" y="36957"/>
                  </a:lnTo>
                  <a:lnTo>
                    <a:pt x="15748" y="36957"/>
                  </a:lnTo>
                  <a:close/>
                </a:path>
              </a:pathLst>
            </a:custGeom>
            <a:solidFill>
              <a:srgbClr val="5F8262"/>
            </a:solidFill>
          </p:spPr>
        </p:sp>
        <p:sp>
          <p:nvSpPr>
            <p:cNvPr name="Freeform 17" id="17"/>
            <p:cNvSpPr/>
            <p:nvPr/>
          </p:nvSpPr>
          <p:spPr>
            <a:xfrm flipH="false" flipV="false" rot="0">
              <a:off x="63500" y="63500"/>
              <a:ext cx="525018" cy="725551"/>
            </a:xfrm>
            <a:custGeom>
              <a:avLst/>
              <a:gdLst/>
              <a:ahLst/>
              <a:cxnLst/>
              <a:rect r="r" b="b" t="t" l="l"/>
              <a:pathLst>
                <a:path h="725551" w="525018">
                  <a:moveTo>
                    <a:pt x="8001" y="633222"/>
                  </a:moveTo>
                  <a:lnTo>
                    <a:pt x="516890" y="633222"/>
                  </a:lnTo>
                  <a:cubicBezTo>
                    <a:pt x="521335" y="633222"/>
                    <a:pt x="525018" y="630301"/>
                    <a:pt x="525018" y="625983"/>
                  </a:cubicBezTo>
                  <a:lnTo>
                    <a:pt x="525018" y="585724"/>
                  </a:lnTo>
                  <a:cubicBezTo>
                    <a:pt x="524891" y="581279"/>
                    <a:pt x="521335" y="577850"/>
                    <a:pt x="516890" y="577850"/>
                  </a:cubicBezTo>
                  <a:lnTo>
                    <a:pt x="478790" y="577850"/>
                  </a:lnTo>
                  <a:lnTo>
                    <a:pt x="478790" y="391795"/>
                  </a:lnTo>
                  <a:lnTo>
                    <a:pt x="517017" y="391795"/>
                  </a:lnTo>
                  <a:cubicBezTo>
                    <a:pt x="521335" y="391795"/>
                    <a:pt x="524891" y="388239"/>
                    <a:pt x="524891" y="383921"/>
                  </a:cubicBezTo>
                  <a:lnTo>
                    <a:pt x="524891" y="255905"/>
                  </a:lnTo>
                  <a:cubicBezTo>
                    <a:pt x="524891" y="251587"/>
                    <a:pt x="521335" y="248031"/>
                    <a:pt x="517017" y="248031"/>
                  </a:cubicBezTo>
                  <a:lnTo>
                    <a:pt x="478917" y="248031"/>
                  </a:lnTo>
                  <a:lnTo>
                    <a:pt x="478917" y="7239"/>
                  </a:lnTo>
                  <a:cubicBezTo>
                    <a:pt x="478917" y="2921"/>
                    <a:pt x="475361" y="0"/>
                    <a:pt x="471043" y="0"/>
                  </a:cubicBezTo>
                  <a:lnTo>
                    <a:pt x="53975" y="0"/>
                  </a:lnTo>
                  <a:cubicBezTo>
                    <a:pt x="49657" y="0"/>
                    <a:pt x="46101" y="2921"/>
                    <a:pt x="46101" y="7239"/>
                  </a:cubicBezTo>
                  <a:lnTo>
                    <a:pt x="46101" y="577850"/>
                  </a:lnTo>
                  <a:lnTo>
                    <a:pt x="8001" y="577850"/>
                  </a:lnTo>
                  <a:cubicBezTo>
                    <a:pt x="3556" y="577850"/>
                    <a:pt x="0" y="581406"/>
                    <a:pt x="0" y="585724"/>
                  </a:cubicBezTo>
                  <a:lnTo>
                    <a:pt x="0" y="625983"/>
                  </a:lnTo>
                  <a:cubicBezTo>
                    <a:pt x="0" y="630301"/>
                    <a:pt x="3683" y="633222"/>
                    <a:pt x="8001" y="633222"/>
                  </a:cubicBezTo>
                  <a:moveTo>
                    <a:pt x="509270" y="376047"/>
                  </a:moveTo>
                  <a:lnTo>
                    <a:pt x="438023" y="376047"/>
                  </a:lnTo>
                  <a:lnTo>
                    <a:pt x="438023" y="263906"/>
                  </a:lnTo>
                  <a:lnTo>
                    <a:pt x="509270" y="263906"/>
                  </a:lnTo>
                  <a:close/>
                  <a:moveTo>
                    <a:pt x="61976" y="15875"/>
                  </a:moveTo>
                  <a:lnTo>
                    <a:pt x="463042" y="15875"/>
                  </a:lnTo>
                  <a:lnTo>
                    <a:pt x="463042" y="248031"/>
                  </a:lnTo>
                  <a:lnTo>
                    <a:pt x="430022" y="248031"/>
                  </a:lnTo>
                  <a:cubicBezTo>
                    <a:pt x="425704" y="248031"/>
                    <a:pt x="422148" y="251587"/>
                    <a:pt x="422148" y="255905"/>
                  </a:cubicBezTo>
                  <a:lnTo>
                    <a:pt x="422148" y="383921"/>
                  </a:lnTo>
                  <a:cubicBezTo>
                    <a:pt x="422148" y="388366"/>
                    <a:pt x="425704" y="391795"/>
                    <a:pt x="430022" y="391795"/>
                  </a:cubicBezTo>
                  <a:lnTo>
                    <a:pt x="463042" y="391795"/>
                  </a:lnTo>
                  <a:lnTo>
                    <a:pt x="463042" y="577850"/>
                  </a:lnTo>
                  <a:lnTo>
                    <a:pt x="411607" y="577850"/>
                  </a:lnTo>
                  <a:lnTo>
                    <a:pt x="411607" y="100584"/>
                  </a:lnTo>
                  <a:cubicBezTo>
                    <a:pt x="411734" y="96139"/>
                    <a:pt x="408178" y="92456"/>
                    <a:pt x="403733" y="92329"/>
                  </a:cubicBezTo>
                  <a:lnTo>
                    <a:pt x="121158" y="92329"/>
                  </a:lnTo>
                  <a:cubicBezTo>
                    <a:pt x="116713" y="92456"/>
                    <a:pt x="113284" y="96139"/>
                    <a:pt x="113411" y="100584"/>
                  </a:cubicBezTo>
                  <a:lnTo>
                    <a:pt x="113411" y="577850"/>
                  </a:lnTo>
                  <a:lnTo>
                    <a:pt x="61976" y="577850"/>
                  </a:lnTo>
                  <a:close/>
                  <a:moveTo>
                    <a:pt x="186182" y="709803"/>
                  </a:moveTo>
                  <a:cubicBezTo>
                    <a:pt x="181864" y="709803"/>
                    <a:pt x="178308" y="713359"/>
                    <a:pt x="178308" y="717677"/>
                  </a:cubicBezTo>
                  <a:cubicBezTo>
                    <a:pt x="178308" y="721995"/>
                    <a:pt x="181864" y="725551"/>
                    <a:pt x="186182" y="725551"/>
                  </a:cubicBezTo>
                  <a:lnTo>
                    <a:pt x="234823" y="725551"/>
                  </a:lnTo>
                  <a:lnTo>
                    <a:pt x="234823" y="577850"/>
                  </a:lnTo>
                  <a:lnTo>
                    <a:pt x="129286" y="577850"/>
                  </a:lnTo>
                  <a:lnTo>
                    <a:pt x="129286" y="163576"/>
                  </a:lnTo>
                  <a:lnTo>
                    <a:pt x="152781" y="163576"/>
                  </a:lnTo>
                  <a:cubicBezTo>
                    <a:pt x="157099" y="163576"/>
                    <a:pt x="160655" y="160020"/>
                    <a:pt x="160655" y="155702"/>
                  </a:cubicBezTo>
                  <a:cubicBezTo>
                    <a:pt x="160655" y="151384"/>
                    <a:pt x="157099" y="147828"/>
                    <a:pt x="152781" y="147828"/>
                  </a:cubicBezTo>
                  <a:lnTo>
                    <a:pt x="129286" y="147828"/>
                  </a:lnTo>
                  <a:lnTo>
                    <a:pt x="129286" y="108204"/>
                  </a:lnTo>
                  <a:lnTo>
                    <a:pt x="395732" y="108204"/>
                  </a:lnTo>
                  <a:lnTo>
                    <a:pt x="395732" y="147828"/>
                  </a:lnTo>
                  <a:close/>
                  <a:moveTo>
                    <a:pt x="395732" y="577850"/>
                  </a:moveTo>
                  <a:lnTo>
                    <a:pt x="290195" y="577850"/>
                  </a:lnTo>
                  <a:lnTo>
                    <a:pt x="290195" y="163576"/>
                  </a:lnTo>
                  <a:lnTo>
                    <a:pt x="395732" y="163576"/>
                  </a:lnTo>
                  <a:close/>
                  <a:moveTo>
                    <a:pt x="274320" y="163576"/>
                  </a:moveTo>
                  <a:lnTo>
                    <a:pt x="250698" y="163576"/>
                  </a:lnTo>
                  <a:lnTo>
                    <a:pt x="274447" y="163576"/>
                  </a:lnTo>
                  <a:close/>
                  <a:moveTo>
                    <a:pt x="15875" y="593725"/>
                  </a:moveTo>
                  <a:lnTo>
                    <a:pt x="509270" y="593725"/>
                  </a:lnTo>
                  <a:lnTo>
                    <a:pt x="509270" y="617474"/>
                  </a:lnTo>
                  <a:lnTo>
                    <a:pt x="15875" y="617474"/>
                  </a:lnTo>
                  <a:close/>
                </a:path>
              </a:pathLst>
            </a:custGeom>
            <a:solidFill>
              <a:srgbClr val="5F8262"/>
            </a:solidFill>
          </p:spPr>
        </p:sp>
        <p:sp>
          <p:nvSpPr>
            <p:cNvPr name="Freeform 18" id="18"/>
            <p:cNvSpPr/>
            <p:nvPr/>
          </p:nvSpPr>
          <p:spPr>
            <a:xfrm flipH="false" flipV="false" rot="0">
              <a:off x="209931" y="283337"/>
              <a:ext cx="15748" cy="185420"/>
            </a:xfrm>
            <a:custGeom>
              <a:avLst/>
              <a:gdLst/>
              <a:ahLst/>
              <a:cxnLst/>
              <a:rect r="r" b="b" t="t" l="l"/>
              <a:pathLst>
                <a:path h="185420" w="15748">
                  <a:moveTo>
                    <a:pt x="7874" y="0"/>
                  </a:moveTo>
                  <a:cubicBezTo>
                    <a:pt x="3556" y="0"/>
                    <a:pt x="0" y="3556"/>
                    <a:pt x="0" y="7874"/>
                  </a:cubicBezTo>
                  <a:lnTo>
                    <a:pt x="0" y="177546"/>
                  </a:lnTo>
                  <a:cubicBezTo>
                    <a:pt x="0" y="181991"/>
                    <a:pt x="3556" y="185420"/>
                    <a:pt x="7874" y="185420"/>
                  </a:cubicBezTo>
                  <a:cubicBezTo>
                    <a:pt x="12192" y="185420"/>
                    <a:pt x="15748" y="181864"/>
                    <a:pt x="15748" y="177546"/>
                  </a:cubicBezTo>
                  <a:lnTo>
                    <a:pt x="15748" y="7874"/>
                  </a:lnTo>
                  <a:cubicBezTo>
                    <a:pt x="15748" y="3556"/>
                    <a:pt x="12192" y="0"/>
                    <a:pt x="7874" y="0"/>
                  </a:cubicBezTo>
                </a:path>
              </a:pathLst>
            </a:custGeom>
            <a:solidFill>
              <a:srgbClr val="5F8262"/>
            </a:solidFill>
          </p:spPr>
        </p:sp>
        <p:sp>
          <p:nvSpPr>
            <p:cNvPr name="Freeform 19" id="19"/>
            <p:cNvSpPr/>
            <p:nvPr/>
          </p:nvSpPr>
          <p:spPr>
            <a:xfrm flipH="false" flipV="false" rot="0">
              <a:off x="209931" y="251333"/>
              <a:ext cx="15748" cy="23241"/>
            </a:xfrm>
            <a:custGeom>
              <a:avLst/>
              <a:gdLst/>
              <a:ahLst/>
              <a:cxnLst/>
              <a:rect r="r" b="b" t="t" l="l"/>
              <a:pathLst>
                <a:path h="23241" w="15748">
                  <a:moveTo>
                    <a:pt x="7874" y="0"/>
                  </a:moveTo>
                  <a:cubicBezTo>
                    <a:pt x="3556" y="0"/>
                    <a:pt x="0" y="3556"/>
                    <a:pt x="0" y="7874"/>
                  </a:cubicBezTo>
                  <a:lnTo>
                    <a:pt x="0" y="15367"/>
                  </a:lnTo>
                  <a:cubicBezTo>
                    <a:pt x="0" y="19685"/>
                    <a:pt x="3556" y="23241"/>
                    <a:pt x="7874" y="23241"/>
                  </a:cubicBezTo>
                  <a:cubicBezTo>
                    <a:pt x="12192" y="23241"/>
                    <a:pt x="15748" y="19685"/>
                    <a:pt x="15748" y="15367"/>
                  </a:cubicBezTo>
                  <a:lnTo>
                    <a:pt x="15748" y="7874"/>
                  </a:lnTo>
                  <a:cubicBezTo>
                    <a:pt x="15748" y="3556"/>
                    <a:pt x="12192" y="0"/>
                    <a:pt x="7874" y="0"/>
                  </a:cubicBezTo>
                </a:path>
              </a:pathLst>
            </a:custGeom>
            <a:solidFill>
              <a:srgbClr val="5F8262"/>
            </a:solidFill>
          </p:spPr>
        </p:sp>
        <p:sp>
          <p:nvSpPr>
            <p:cNvPr name="Freeform 20" id="20"/>
            <p:cNvSpPr/>
            <p:nvPr/>
          </p:nvSpPr>
          <p:spPr>
            <a:xfrm flipH="false" flipV="false" rot="0">
              <a:off x="511778" y="334518"/>
              <a:ext cx="50737" cy="45601"/>
            </a:xfrm>
            <a:custGeom>
              <a:avLst/>
              <a:gdLst/>
              <a:ahLst/>
              <a:cxnLst/>
              <a:rect r="r" b="b" t="t" l="l"/>
              <a:pathLst>
                <a:path h="45601" w="50737">
                  <a:moveTo>
                    <a:pt x="7906" y="45593"/>
                  </a:moveTo>
                  <a:lnTo>
                    <a:pt x="42831" y="45593"/>
                  </a:lnTo>
                  <a:cubicBezTo>
                    <a:pt x="45625" y="45720"/>
                    <a:pt x="48292" y="44323"/>
                    <a:pt x="49689" y="41910"/>
                  </a:cubicBezTo>
                  <a:cubicBezTo>
                    <a:pt x="51086" y="39497"/>
                    <a:pt x="51086" y="36576"/>
                    <a:pt x="49689" y="34163"/>
                  </a:cubicBezTo>
                  <a:lnTo>
                    <a:pt x="32290" y="3937"/>
                  </a:lnTo>
                  <a:cubicBezTo>
                    <a:pt x="30893" y="1524"/>
                    <a:pt x="28226" y="0"/>
                    <a:pt x="25432" y="0"/>
                  </a:cubicBezTo>
                  <a:cubicBezTo>
                    <a:pt x="22638" y="0"/>
                    <a:pt x="19971" y="1524"/>
                    <a:pt x="18574" y="3937"/>
                  </a:cubicBezTo>
                  <a:lnTo>
                    <a:pt x="1048" y="34163"/>
                  </a:lnTo>
                  <a:cubicBezTo>
                    <a:pt x="-349" y="36449"/>
                    <a:pt x="-349" y="39370"/>
                    <a:pt x="1048" y="41783"/>
                  </a:cubicBezTo>
                  <a:cubicBezTo>
                    <a:pt x="2445" y="44196"/>
                    <a:pt x="5112" y="45593"/>
                    <a:pt x="7906" y="45466"/>
                  </a:cubicBezTo>
                  <a:moveTo>
                    <a:pt x="25432" y="23114"/>
                  </a:moveTo>
                  <a:lnTo>
                    <a:pt x="29115" y="29591"/>
                  </a:lnTo>
                  <a:lnTo>
                    <a:pt x="21622" y="29591"/>
                  </a:lnTo>
                  <a:close/>
                </a:path>
              </a:pathLst>
            </a:custGeom>
            <a:solidFill>
              <a:srgbClr val="5F8262"/>
            </a:solidFill>
          </p:spPr>
        </p:sp>
        <p:sp>
          <p:nvSpPr>
            <p:cNvPr name="Freeform 21" id="21"/>
            <p:cNvSpPr/>
            <p:nvPr/>
          </p:nvSpPr>
          <p:spPr>
            <a:xfrm flipH="false" flipV="false" rot="0">
              <a:off x="511778" y="372110"/>
              <a:ext cx="50737" cy="60960"/>
            </a:xfrm>
            <a:custGeom>
              <a:avLst/>
              <a:gdLst/>
              <a:ahLst/>
              <a:cxnLst/>
              <a:rect r="r" b="b" t="t" l="l"/>
              <a:pathLst>
                <a:path h="60960" w="50737">
                  <a:moveTo>
                    <a:pt x="18447" y="57023"/>
                  </a:moveTo>
                  <a:cubicBezTo>
                    <a:pt x="19844" y="59436"/>
                    <a:pt x="22511" y="60960"/>
                    <a:pt x="25305" y="60960"/>
                  </a:cubicBezTo>
                  <a:cubicBezTo>
                    <a:pt x="28099" y="60960"/>
                    <a:pt x="30639" y="59436"/>
                    <a:pt x="32163" y="57023"/>
                  </a:cubicBezTo>
                  <a:lnTo>
                    <a:pt x="49689" y="26797"/>
                  </a:lnTo>
                  <a:cubicBezTo>
                    <a:pt x="51086" y="24257"/>
                    <a:pt x="51086" y="21209"/>
                    <a:pt x="49689" y="18669"/>
                  </a:cubicBezTo>
                  <a:cubicBezTo>
                    <a:pt x="48292" y="16129"/>
                    <a:pt x="45625" y="14605"/>
                    <a:pt x="42831" y="14478"/>
                  </a:cubicBezTo>
                  <a:lnTo>
                    <a:pt x="7906" y="14478"/>
                  </a:lnTo>
                  <a:cubicBezTo>
                    <a:pt x="5112" y="14605"/>
                    <a:pt x="2445" y="16129"/>
                    <a:pt x="1048" y="18669"/>
                  </a:cubicBezTo>
                  <a:cubicBezTo>
                    <a:pt x="-349" y="21209"/>
                    <a:pt x="-349" y="24130"/>
                    <a:pt x="1048" y="26670"/>
                  </a:cubicBezTo>
                  <a:close/>
                  <a:moveTo>
                    <a:pt x="11589" y="0"/>
                  </a:moveTo>
                  <a:lnTo>
                    <a:pt x="7779" y="6477"/>
                  </a:lnTo>
                  <a:lnTo>
                    <a:pt x="3969" y="0"/>
                  </a:lnTo>
                  <a:close/>
                </a:path>
              </a:pathLst>
            </a:custGeom>
            <a:solidFill>
              <a:srgbClr val="5F8262"/>
            </a:solidFill>
          </p:spPr>
        </p:sp>
      </p:grpSp>
      <p:grpSp>
        <p:nvGrpSpPr>
          <p:cNvPr name="Group 22" id="22"/>
          <p:cNvGrpSpPr/>
          <p:nvPr/>
        </p:nvGrpSpPr>
        <p:grpSpPr>
          <a:xfrm rot="0">
            <a:off x="13355209" y="5299224"/>
            <a:ext cx="28575" cy="3800475"/>
            <a:chOff x="0" y="0"/>
            <a:chExt cx="28575" cy="3800475"/>
          </a:xfrm>
        </p:grpSpPr>
        <p:sp>
          <p:nvSpPr>
            <p:cNvPr name="Freeform 23" id="23"/>
            <p:cNvSpPr/>
            <p:nvPr/>
          </p:nvSpPr>
          <p:spPr>
            <a:xfrm flipH="false" flipV="false" rot="0">
              <a:off x="0" y="0"/>
              <a:ext cx="28575" cy="3800475"/>
            </a:xfrm>
            <a:custGeom>
              <a:avLst/>
              <a:gdLst/>
              <a:ahLst/>
              <a:cxnLst/>
              <a:rect r="r" b="b" t="t" l="l"/>
              <a:pathLst>
                <a:path h="3800475" w="28575">
                  <a:moveTo>
                    <a:pt x="0" y="3657600"/>
                  </a:moveTo>
                  <a:lnTo>
                    <a:pt x="0" y="3571875"/>
                  </a:lnTo>
                  <a:lnTo>
                    <a:pt x="28575" y="3571875"/>
                  </a:lnTo>
                  <a:lnTo>
                    <a:pt x="28575" y="3657600"/>
                  </a:lnTo>
                  <a:close/>
                  <a:moveTo>
                    <a:pt x="28575" y="3514725"/>
                  </a:moveTo>
                  <a:lnTo>
                    <a:pt x="28575" y="3429000"/>
                  </a:lnTo>
                  <a:lnTo>
                    <a:pt x="28575" y="3514725"/>
                  </a:lnTo>
                  <a:close/>
                  <a:moveTo>
                    <a:pt x="0" y="3371850"/>
                  </a:moveTo>
                  <a:lnTo>
                    <a:pt x="0" y="3286125"/>
                  </a:lnTo>
                  <a:lnTo>
                    <a:pt x="28575" y="3286125"/>
                  </a:lnTo>
                  <a:lnTo>
                    <a:pt x="28575" y="3371850"/>
                  </a:lnTo>
                  <a:close/>
                  <a:moveTo>
                    <a:pt x="28575" y="3228975"/>
                  </a:moveTo>
                  <a:lnTo>
                    <a:pt x="28575" y="3143250"/>
                  </a:lnTo>
                  <a:lnTo>
                    <a:pt x="28575" y="3228975"/>
                  </a:lnTo>
                  <a:close/>
                  <a:moveTo>
                    <a:pt x="0" y="3086100"/>
                  </a:moveTo>
                  <a:lnTo>
                    <a:pt x="0" y="3000375"/>
                  </a:lnTo>
                  <a:lnTo>
                    <a:pt x="28575" y="3000375"/>
                  </a:lnTo>
                  <a:lnTo>
                    <a:pt x="28575" y="3086100"/>
                  </a:lnTo>
                  <a:close/>
                  <a:moveTo>
                    <a:pt x="28575" y="2943225"/>
                  </a:moveTo>
                  <a:lnTo>
                    <a:pt x="28575" y="2857500"/>
                  </a:lnTo>
                  <a:lnTo>
                    <a:pt x="28575" y="2943225"/>
                  </a:lnTo>
                  <a:close/>
                  <a:moveTo>
                    <a:pt x="0" y="2800350"/>
                  </a:moveTo>
                  <a:lnTo>
                    <a:pt x="0" y="2714625"/>
                  </a:lnTo>
                  <a:lnTo>
                    <a:pt x="28575" y="2714625"/>
                  </a:lnTo>
                  <a:lnTo>
                    <a:pt x="28575" y="2800350"/>
                  </a:lnTo>
                  <a:close/>
                  <a:moveTo>
                    <a:pt x="28575" y="2657475"/>
                  </a:moveTo>
                  <a:lnTo>
                    <a:pt x="28575" y="2571750"/>
                  </a:lnTo>
                  <a:lnTo>
                    <a:pt x="28575" y="2657475"/>
                  </a:lnTo>
                  <a:close/>
                  <a:moveTo>
                    <a:pt x="0" y="2514600"/>
                  </a:moveTo>
                  <a:lnTo>
                    <a:pt x="0" y="2428875"/>
                  </a:lnTo>
                  <a:lnTo>
                    <a:pt x="28575" y="2428875"/>
                  </a:lnTo>
                  <a:lnTo>
                    <a:pt x="28575" y="2514600"/>
                  </a:lnTo>
                  <a:close/>
                  <a:moveTo>
                    <a:pt x="28575" y="2371725"/>
                  </a:moveTo>
                  <a:lnTo>
                    <a:pt x="28575" y="2286000"/>
                  </a:lnTo>
                  <a:lnTo>
                    <a:pt x="28575" y="2371725"/>
                  </a:lnTo>
                  <a:close/>
                  <a:moveTo>
                    <a:pt x="0" y="2228850"/>
                  </a:moveTo>
                  <a:lnTo>
                    <a:pt x="0" y="2143125"/>
                  </a:lnTo>
                  <a:lnTo>
                    <a:pt x="28575" y="2143125"/>
                  </a:lnTo>
                  <a:lnTo>
                    <a:pt x="28575" y="2228850"/>
                  </a:lnTo>
                  <a:close/>
                  <a:moveTo>
                    <a:pt x="28575" y="2085975"/>
                  </a:moveTo>
                  <a:lnTo>
                    <a:pt x="28575" y="2000250"/>
                  </a:lnTo>
                  <a:lnTo>
                    <a:pt x="28575" y="2085975"/>
                  </a:lnTo>
                  <a:close/>
                  <a:moveTo>
                    <a:pt x="0" y="1943100"/>
                  </a:moveTo>
                  <a:lnTo>
                    <a:pt x="0" y="1857375"/>
                  </a:lnTo>
                  <a:lnTo>
                    <a:pt x="28575" y="1857375"/>
                  </a:lnTo>
                  <a:lnTo>
                    <a:pt x="28575" y="1943100"/>
                  </a:lnTo>
                  <a:close/>
                  <a:moveTo>
                    <a:pt x="28575" y="1800225"/>
                  </a:moveTo>
                  <a:lnTo>
                    <a:pt x="28575" y="1714500"/>
                  </a:lnTo>
                  <a:lnTo>
                    <a:pt x="28575" y="1800225"/>
                  </a:lnTo>
                  <a:close/>
                  <a:moveTo>
                    <a:pt x="0" y="1657350"/>
                  </a:moveTo>
                  <a:lnTo>
                    <a:pt x="0" y="1571625"/>
                  </a:lnTo>
                  <a:lnTo>
                    <a:pt x="28575" y="1571625"/>
                  </a:lnTo>
                  <a:lnTo>
                    <a:pt x="28575" y="1657350"/>
                  </a:lnTo>
                  <a:close/>
                  <a:moveTo>
                    <a:pt x="28575" y="1514475"/>
                  </a:moveTo>
                  <a:lnTo>
                    <a:pt x="28575" y="1428750"/>
                  </a:lnTo>
                  <a:lnTo>
                    <a:pt x="28575" y="1514475"/>
                  </a:lnTo>
                  <a:close/>
                  <a:moveTo>
                    <a:pt x="0" y="1371600"/>
                  </a:moveTo>
                  <a:lnTo>
                    <a:pt x="0" y="1285875"/>
                  </a:lnTo>
                  <a:lnTo>
                    <a:pt x="28575" y="1285875"/>
                  </a:lnTo>
                  <a:lnTo>
                    <a:pt x="28575" y="1371600"/>
                  </a:lnTo>
                  <a:close/>
                  <a:moveTo>
                    <a:pt x="0" y="1228725"/>
                  </a:moveTo>
                  <a:lnTo>
                    <a:pt x="0" y="1143000"/>
                  </a:lnTo>
                  <a:lnTo>
                    <a:pt x="28575" y="1143000"/>
                  </a:lnTo>
                  <a:lnTo>
                    <a:pt x="28575" y="1228725"/>
                  </a:lnTo>
                  <a:close/>
                  <a:moveTo>
                    <a:pt x="0" y="1085850"/>
                  </a:moveTo>
                  <a:lnTo>
                    <a:pt x="0" y="1000125"/>
                  </a:lnTo>
                  <a:lnTo>
                    <a:pt x="28575" y="1000125"/>
                  </a:lnTo>
                  <a:lnTo>
                    <a:pt x="28575" y="1085850"/>
                  </a:lnTo>
                  <a:close/>
                  <a:moveTo>
                    <a:pt x="0" y="942975"/>
                  </a:moveTo>
                  <a:lnTo>
                    <a:pt x="0" y="857250"/>
                  </a:lnTo>
                  <a:lnTo>
                    <a:pt x="28575" y="857250"/>
                  </a:lnTo>
                  <a:lnTo>
                    <a:pt x="28575" y="942975"/>
                  </a:lnTo>
                  <a:close/>
                  <a:moveTo>
                    <a:pt x="0" y="800100"/>
                  </a:moveTo>
                  <a:lnTo>
                    <a:pt x="0" y="714375"/>
                  </a:lnTo>
                  <a:lnTo>
                    <a:pt x="28575" y="714375"/>
                  </a:lnTo>
                  <a:lnTo>
                    <a:pt x="28575" y="800100"/>
                  </a:lnTo>
                  <a:close/>
                  <a:moveTo>
                    <a:pt x="0" y="657225"/>
                  </a:moveTo>
                  <a:lnTo>
                    <a:pt x="0" y="571500"/>
                  </a:lnTo>
                  <a:lnTo>
                    <a:pt x="28575" y="571500"/>
                  </a:lnTo>
                  <a:lnTo>
                    <a:pt x="28575" y="657225"/>
                  </a:lnTo>
                  <a:close/>
                  <a:moveTo>
                    <a:pt x="0" y="514350"/>
                  </a:moveTo>
                  <a:lnTo>
                    <a:pt x="0" y="428625"/>
                  </a:lnTo>
                  <a:lnTo>
                    <a:pt x="28575" y="428625"/>
                  </a:lnTo>
                  <a:lnTo>
                    <a:pt x="28575" y="514350"/>
                  </a:lnTo>
                  <a:close/>
                  <a:moveTo>
                    <a:pt x="0" y="371475"/>
                  </a:moveTo>
                  <a:lnTo>
                    <a:pt x="0" y="285750"/>
                  </a:lnTo>
                  <a:lnTo>
                    <a:pt x="28575" y="285750"/>
                  </a:lnTo>
                  <a:lnTo>
                    <a:pt x="28575" y="371475"/>
                  </a:lnTo>
                  <a:close/>
                  <a:moveTo>
                    <a:pt x="0" y="228600"/>
                  </a:moveTo>
                  <a:lnTo>
                    <a:pt x="0" y="142875"/>
                  </a:lnTo>
                  <a:lnTo>
                    <a:pt x="28575" y="142875"/>
                  </a:lnTo>
                  <a:lnTo>
                    <a:pt x="28575" y="228600"/>
                  </a:lnTo>
                  <a:close/>
                  <a:moveTo>
                    <a:pt x="0" y="85725"/>
                  </a:moveTo>
                  <a:lnTo>
                    <a:pt x="0" y="0"/>
                  </a:lnTo>
                  <a:lnTo>
                    <a:pt x="28575" y="0"/>
                  </a:lnTo>
                  <a:lnTo>
                    <a:pt x="28575" y="85725"/>
                  </a:lnTo>
                  <a:close/>
                  <a:moveTo>
                    <a:pt x="28575" y="3800475"/>
                  </a:moveTo>
                  <a:lnTo>
                    <a:pt x="28575" y="3714750"/>
                  </a:lnTo>
                  <a:lnTo>
                    <a:pt x="28575" y="3800475"/>
                  </a:lnTo>
                  <a:close/>
                </a:path>
              </a:pathLst>
            </a:custGeom>
            <a:solidFill>
              <a:srgbClr val="5F8262"/>
            </a:solidFill>
          </p:spPr>
        </p:sp>
      </p:grpSp>
      <p:sp>
        <p:nvSpPr>
          <p:cNvPr name="Freeform 24" id="24"/>
          <p:cNvSpPr/>
          <p:nvPr/>
        </p:nvSpPr>
        <p:spPr>
          <a:xfrm flipH="false" flipV="false" rot="0">
            <a:off x="14007913" y="4669631"/>
            <a:ext cx="636156" cy="639499"/>
          </a:xfrm>
          <a:custGeom>
            <a:avLst/>
            <a:gdLst/>
            <a:ahLst/>
            <a:cxnLst/>
            <a:rect r="r" b="b" t="t" l="l"/>
            <a:pathLst>
              <a:path h="639499" w="636156">
                <a:moveTo>
                  <a:pt x="0" y="0"/>
                </a:moveTo>
                <a:lnTo>
                  <a:pt x="636155" y="0"/>
                </a:lnTo>
                <a:lnTo>
                  <a:pt x="636155" y="639499"/>
                </a:lnTo>
                <a:lnTo>
                  <a:pt x="0" y="6394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5" id="25"/>
          <p:cNvSpPr txBox="true"/>
          <p:nvPr/>
        </p:nvSpPr>
        <p:spPr>
          <a:xfrm rot="0">
            <a:off x="4370880" y="1065381"/>
            <a:ext cx="9737160" cy="1636538"/>
          </a:xfrm>
          <a:prstGeom prst="rect">
            <a:avLst/>
          </a:prstGeom>
        </p:spPr>
        <p:txBody>
          <a:bodyPr anchor="t" rtlCol="false" tIns="0" lIns="0" bIns="0" rIns="0">
            <a:spAutoFit/>
          </a:bodyPr>
          <a:lstStyle/>
          <a:p>
            <a:pPr algn="l">
              <a:lnSpc>
                <a:spcPts val="14150"/>
              </a:lnSpc>
            </a:pPr>
            <a:r>
              <a:rPr lang="en-US" sz="6800">
                <a:solidFill>
                  <a:srgbClr val="37403A"/>
                </a:solidFill>
                <a:latin typeface="Playfair Display"/>
                <a:ea typeface="Playfair Display"/>
                <a:cs typeface="Playfair Display"/>
                <a:sym typeface="Playfair Display"/>
              </a:rPr>
              <a:t>OOP Principles in Action</a:t>
            </a:r>
          </a:p>
        </p:txBody>
      </p:sp>
      <p:sp>
        <p:nvSpPr>
          <p:cNvPr name="TextBox 26" id="26"/>
          <p:cNvSpPr txBox="true"/>
          <p:nvPr/>
        </p:nvSpPr>
        <p:spPr>
          <a:xfrm rot="0">
            <a:off x="1371619" y="5636190"/>
            <a:ext cx="2483140" cy="4176752"/>
          </a:xfrm>
          <a:prstGeom prst="rect">
            <a:avLst/>
          </a:prstGeom>
        </p:spPr>
        <p:txBody>
          <a:bodyPr anchor="t" rtlCol="false" tIns="0" lIns="0" bIns="0" rIns="0">
            <a:spAutoFit/>
          </a:bodyPr>
          <a:lstStyle/>
          <a:p>
            <a:pPr algn="l">
              <a:lnSpc>
                <a:spcPts val="3089"/>
              </a:lnSpc>
            </a:pPr>
            <a:r>
              <a:rPr lang="en-US" sz="2574">
                <a:solidFill>
                  <a:srgbClr val="37403A"/>
                </a:solidFill>
                <a:latin typeface="Playfair Display"/>
                <a:ea typeface="Playfair Display"/>
                <a:cs typeface="Playfair Display"/>
                <a:sym typeface="Playfair Display"/>
              </a:rPr>
              <a:t>Abstraction via State Interface</a:t>
            </a:r>
          </a:p>
          <a:p>
            <a:pPr algn="l">
              <a:lnSpc>
                <a:spcPts val="2059"/>
              </a:lnSpc>
            </a:pPr>
            <a:r>
              <a:rPr lang="en-US" sz="1716">
                <a:solidFill>
                  <a:srgbClr val="37403A"/>
                </a:solidFill>
                <a:latin typeface="Playfair Display"/>
                <a:ea typeface="Playfair Display"/>
                <a:cs typeface="Playfair Display"/>
                <a:sym typeface="Playfair Display"/>
              </a:rPr>
              <a:t>Handled by the State interface.</a:t>
            </a:r>
          </a:p>
          <a:p>
            <a:pPr algn="l">
              <a:lnSpc>
                <a:spcPts val="2059"/>
              </a:lnSpc>
            </a:pPr>
            <a:r>
              <a:rPr lang="en-US" sz="1716">
                <a:solidFill>
                  <a:srgbClr val="37403A"/>
                </a:solidFill>
                <a:latin typeface="Playfair Display"/>
                <a:ea typeface="Playfair Display"/>
                <a:cs typeface="Playfair Display"/>
                <a:sym typeface="Playfair Display"/>
              </a:rPr>
              <a:t>Abstraction hides complex implementation details by showing only the necessary method signatures (handleRequest) to the user, allowing the system to focus on what an object does rather than how it does it.</a:t>
            </a:r>
          </a:p>
          <a:p>
            <a:pPr algn="l">
              <a:lnSpc>
                <a:spcPts val="2059"/>
              </a:lnSpc>
            </a:pPr>
          </a:p>
        </p:txBody>
      </p:sp>
      <p:sp>
        <p:nvSpPr>
          <p:cNvPr name="TextBox 27" id="27"/>
          <p:cNvSpPr txBox="true"/>
          <p:nvPr/>
        </p:nvSpPr>
        <p:spPr>
          <a:xfrm rot="0">
            <a:off x="5377388" y="5448300"/>
            <a:ext cx="2796957" cy="4838700"/>
          </a:xfrm>
          <a:prstGeom prst="rect">
            <a:avLst/>
          </a:prstGeom>
        </p:spPr>
        <p:txBody>
          <a:bodyPr anchor="t" rtlCol="false" tIns="0" lIns="0" bIns="0" rIns="0">
            <a:spAutoFit/>
          </a:bodyPr>
          <a:lstStyle/>
          <a:p>
            <a:pPr algn="l">
              <a:lnSpc>
                <a:spcPts val="2822"/>
              </a:lnSpc>
            </a:pPr>
            <a:r>
              <a:rPr lang="en-US" sz="2352">
                <a:solidFill>
                  <a:srgbClr val="37403A"/>
                </a:solidFill>
                <a:latin typeface="Playfair Display"/>
                <a:ea typeface="Playfair Display"/>
                <a:cs typeface="Playfair Display"/>
                <a:sym typeface="Playfair Display"/>
              </a:rPr>
              <a:t>Inheritance &amp; Polymorphism in Action</a:t>
            </a:r>
          </a:p>
          <a:p>
            <a:pPr algn="l">
              <a:lnSpc>
                <a:spcPts val="2102"/>
              </a:lnSpc>
            </a:pPr>
            <a:r>
              <a:rPr lang="en-US" sz="1752">
                <a:solidFill>
                  <a:srgbClr val="37403A"/>
                </a:solidFill>
                <a:latin typeface="Playfair Display"/>
                <a:ea typeface="Playfair Display"/>
                <a:cs typeface="Playfair Display"/>
                <a:sym typeface="Playfair Display"/>
              </a:rPr>
              <a:t>Handled by the implements keyword.</a:t>
            </a:r>
          </a:p>
          <a:p>
            <a:pPr algn="l">
              <a:lnSpc>
                <a:spcPts val="2102"/>
              </a:lnSpc>
            </a:pPr>
            <a:r>
              <a:rPr lang="en-US" sz="1752">
                <a:solidFill>
                  <a:srgbClr val="37403A"/>
                </a:solidFill>
                <a:latin typeface="Playfair Display"/>
                <a:ea typeface="Playfair Display"/>
                <a:cs typeface="Playfair Display"/>
                <a:sym typeface="Playfair Display"/>
              </a:rPr>
              <a:t>Inheritance allows the concrete states (like IdleState or MovingUpState) to derive their structure from a common parent interface, promoting code reusability and establishing a clear hierarchical relationship between classes.</a:t>
            </a:r>
          </a:p>
          <a:p>
            <a:pPr algn="l">
              <a:lnSpc>
                <a:spcPts val="1121"/>
              </a:lnSpc>
            </a:pPr>
          </a:p>
          <a:p>
            <a:pPr algn="l">
              <a:lnSpc>
                <a:spcPts val="2102"/>
              </a:lnSpc>
            </a:pPr>
          </a:p>
          <a:p>
            <a:pPr algn="l">
              <a:lnSpc>
                <a:spcPts val="1401"/>
              </a:lnSpc>
            </a:pPr>
          </a:p>
        </p:txBody>
      </p:sp>
      <p:sp>
        <p:nvSpPr>
          <p:cNvPr name="TextBox 28" id="28"/>
          <p:cNvSpPr txBox="true"/>
          <p:nvPr/>
        </p:nvSpPr>
        <p:spPr>
          <a:xfrm rot="0">
            <a:off x="9795805" y="5636190"/>
            <a:ext cx="2587853" cy="4176752"/>
          </a:xfrm>
          <a:prstGeom prst="rect">
            <a:avLst/>
          </a:prstGeom>
        </p:spPr>
        <p:txBody>
          <a:bodyPr anchor="t" rtlCol="false" tIns="0" lIns="0" bIns="0" rIns="0">
            <a:spAutoFit/>
          </a:bodyPr>
          <a:lstStyle/>
          <a:p>
            <a:pPr algn="l">
              <a:lnSpc>
                <a:spcPts val="3089"/>
              </a:lnSpc>
            </a:pPr>
            <a:r>
              <a:rPr lang="en-US" sz="2574">
                <a:solidFill>
                  <a:srgbClr val="37403A"/>
                </a:solidFill>
                <a:latin typeface="Playfair Display"/>
                <a:ea typeface="Playfair Display"/>
                <a:cs typeface="Playfair Display"/>
                <a:sym typeface="Playfair Display"/>
              </a:rPr>
              <a:t>Encapsulation of Elevator Data</a:t>
            </a:r>
          </a:p>
          <a:p>
            <a:pPr algn="l">
              <a:lnSpc>
                <a:spcPts val="2059"/>
              </a:lnSpc>
            </a:pPr>
            <a:r>
              <a:rPr lang="en-US" sz="1716">
                <a:solidFill>
                  <a:srgbClr val="37403A"/>
                </a:solidFill>
                <a:latin typeface="Playfair Display"/>
                <a:ea typeface="Playfair Display"/>
                <a:cs typeface="Playfair Display"/>
                <a:sym typeface="Playfair Display"/>
              </a:rPr>
              <a:t>IIn your project: Handled by the Elevator class.</a:t>
            </a:r>
          </a:p>
          <a:p>
            <a:pPr algn="l">
              <a:lnSpc>
                <a:spcPts val="2059"/>
              </a:lnSpc>
            </a:pPr>
            <a:r>
              <a:rPr lang="en-US" sz="1716">
                <a:solidFill>
                  <a:srgbClr val="37403A"/>
                </a:solidFill>
                <a:latin typeface="Playfair Display"/>
                <a:ea typeface="Playfair Display"/>
                <a:cs typeface="Playfair Display"/>
                <a:sym typeface="Playfair Display"/>
              </a:rPr>
              <a:t>Encapsulation bundles the data (currentFloor) and the methods that operate on that data into a single unit, using private fields and public getters/setters to protect the internal state from unauthorized external access.</a:t>
            </a:r>
          </a:p>
          <a:p>
            <a:pPr algn="l">
              <a:lnSpc>
                <a:spcPts val="2059"/>
              </a:lnSpc>
            </a:pPr>
          </a:p>
        </p:txBody>
      </p:sp>
      <p:sp>
        <p:nvSpPr>
          <p:cNvPr name="TextBox 29" id="29"/>
          <p:cNvSpPr txBox="true"/>
          <p:nvPr/>
        </p:nvSpPr>
        <p:spPr>
          <a:xfrm rot="0">
            <a:off x="14007894" y="5636190"/>
            <a:ext cx="3004804" cy="3867150"/>
          </a:xfrm>
          <a:prstGeom prst="rect">
            <a:avLst/>
          </a:prstGeom>
        </p:spPr>
        <p:txBody>
          <a:bodyPr anchor="t" rtlCol="false" tIns="0" lIns="0" bIns="0" rIns="0">
            <a:spAutoFit/>
          </a:bodyPr>
          <a:lstStyle/>
          <a:p>
            <a:pPr algn="l">
              <a:lnSpc>
                <a:spcPts val="3600"/>
              </a:lnSpc>
            </a:pPr>
            <a:r>
              <a:rPr lang="en-US" sz="3000">
                <a:solidFill>
                  <a:srgbClr val="37403A"/>
                </a:solidFill>
                <a:latin typeface="Playfair Display"/>
                <a:ea typeface="Playfair Display"/>
                <a:cs typeface="Playfair Display"/>
                <a:sym typeface="Playfair Display"/>
              </a:rPr>
              <a:t>Robust Exception Handling</a:t>
            </a:r>
          </a:p>
          <a:p>
            <a:pPr algn="l">
              <a:lnSpc>
                <a:spcPts val="2400"/>
              </a:lnSpc>
            </a:pPr>
            <a:r>
              <a:rPr lang="en-US" sz="2000">
                <a:solidFill>
                  <a:srgbClr val="37403A"/>
                </a:solidFill>
                <a:latin typeface="Playfair Display"/>
                <a:ea typeface="Playfair Display"/>
                <a:cs typeface="Playfair Display"/>
                <a:sym typeface="Playfair Display"/>
              </a:rPr>
              <a:t>In a robust Elevator Management System, Exception Handling ensures that the program doesn't crash when it encounters unexpected inputs or runtime errors (like a power failure simulation or an invalid floor request).</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1EADE"/>
        </a:solidFill>
      </p:bgPr>
    </p:bg>
    <p:spTree>
      <p:nvGrpSpPr>
        <p:cNvPr id="1" name=""/>
        <p:cNvGrpSpPr/>
        <p:nvPr/>
      </p:nvGrpSpPr>
      <p:grpSpPr>
        <a:xfrm>
          <a:off x="0" y="0"/>
          <a:ext cx="0" cy="0"/>
          <a:chOff x="0" y="0"/>
          <a:chExt cx="0" cy="0"/>
        </a:xfrm>
      </p:grpSpPr>
      <p:sp>
        <p:nvSpPr>
          <p:cNvPr name="TextBox 2" id="2"/>
          <p:cNvSpPr txBox="true"/>
          <p:nvPr/>
        </p:nvSpPr>
        <p:spPr>
          <a:xfrm rot="0">
            <a:off x="4545880" y="714590"/>
            <a:ext cx="10022681" cy="1160782"/>
          </a:xfrm>
          <a:prstGeom prst="rect">
            <a:avLst/>
          </a:prstGeom>
        </p:spPr>
        <p:txBody>
          <a:bodyPr anchor="t" rtlCol="false" tIns="0" lIns="0" bIns="0" rIns="0">
            <a:spAutoFit/>
          </a:bodyPr>
          <a:lstStyle/>
          <a:p>
            <a:pPr algn="ctr">
              <a:lnSpc>
                <a:spcPts val="9519"/>
              </a:lnSpc>
              <a:spcBef>
                <a:spcPct val="0"/>
              </a:spcBef>
            </a:pPr>
            <a:r>
              <a:rPr lang="en-US" sz="6799">
                <a:solidFill>
                  <a:srgbClr val="37403A"/>
                </a:solidFill>
                <a:latin typeface="Playfair Display SC"/>
                <a:ea typeface="Playfair Display SC"/>
                <a:cs typeface="Playfair Display SC"/>
                <a:sym typeface="Playfair Display SC"/>
              </a:rPr>
              <a:t>technical highlights</a:t>
            </a:r>
          </a:p>
        </p:txBody>
      </p:sp>
      <p:sp>
        <p:nvSpPr>
          <p:cNvPr name="TextBox 3" id="3"/>
          <p:cNvSpPr txBox="true"/>
          <p:nvPr/>
        </p:nvSpPr>
        <p:spPr>
          <a:xfrm rot="0">
            <a:off x="480340" y="3696625"/>
            <a:ext cx="17655421" cy="6160481"/>
          </a:xfrm>
          <a:prstGeom prst="rect">
            <a:avLst/>
          </a:prstGeom>
        </p:spPr>
        <p:txBody>
          <a:bodyPr anchor="t" rtlCol="false" tIns="0" lIns="0" bIns="0" rIns="0">
            <a:spAutoFit/>
          </a:bodyPr>
          <a:lstStyle/>
          <a:p>
            <a:pPr algn="l">
              <a:lnSpc>
                <a:spcPts val="2745"/>
              </a:lnSpc>
            </a:pPr>
            <a:r>
              <a:rPr lang="en-US" sz="1961">
                <a:solidFill>
                  <a:srgbClr val="37403A"/>
                </a:solidFill>
                <a:latin typeface="Playfair Display"/>
                <a:ea typeface="Playfair Display"/>
                <a:cs typeface="Playfair Display"/>
                <a:sym typeface="Playfair Display"/>
              </a:rPr>
              <a:t>Core Design Decision</a:t>
            </a:r>
          </a:p>
          <a:p>
            <a:pPr algn="l" marL="423460" indent="-211730" lvl="1">
              <a:lnSpc>
                <a:spcPts val="2745"/>
              </a:lnSpc>
              <a:buFont typeface="Arial"/>
              <a:buChar char="•"/>
            </a:pPr>
            <a:r>
              <a:rPr lang="en-US" sz="1961">
                <a:solidFill>
                  <a:srgbClr val="37403A"/>
                </a:solidFill>
                <a:latin typeface="Playfair Display"/>
                <a:ea typeface="Playfair Display"/>
                <a:cs typeface="Playfair Display"/>
                <a:sym typeface="Playfair Display"/>
              </a:rPr>
              <a:t>Pattern Used: Behavioral State Design Pattern.</a:t>
            </a:r>
          </a:p>
          <a:p>
            <a:pPr algn="l" marL="423460" indent="-211730" lvl="1">
              <a:lnSpc>
                <a:spcPts val="2745"/>
              </a:lnSpc>
              <a:buFont typeface="Arial"/>
              <a:buChar char="•"/>
            </a:pPr>
            <a:r>
              <a:rPr lang="en-US" sz="1961">
                <a:solidFill>
                  <a:srgbClr val="37403A"/>
                </a:solidFill>
                <a:latin typeface="Playfair Display"/>
                <a:ea typeface="Playfair Display"/>
                <a:cs typeface="Playfair Display"/>
                <a:sym typeface="Playfair Display"/>
              </a:rPr>
              <a:t>Decision: Replacing conditional if-else or switch logic with Object-Oriented State Objects.</a:t>
            </a:r>
          </a:p>
          <a:p>
            <a:pPr algn="l">
              <a:lnSpc>
                <a:spcPts val="2745"/>
              </a:lnSpc>
            </a:pPr>
          </a:p>
          <a:p>
            <a:pPr algn="l">
              <a:lnSpc>
                <a:spcPts val="2745"/>
              </a:lnSpc>
            </a:pPr>
            <a:r>
              <a:rPr lang="en-US" sz="1961">
                <a:solidFill>
                  <a:srgbClr val="37403A"/>
                </a:solidFill>
                <a:latin typeface="Playfair Display"/>
                <a:ea typeface="Playfair Display"/>
                <a:cs typeface="Playfair Display"/>
                <a:sym typeface="Playfair Display"/>
              </a:rPr>
              <a:t>Why This Was Chosen (The "Engineering" Justification)</a:t>
            </a:r>
          </a:p>
          <a:p>
            <a:pPr algn="l" marL="423460" indent="-211730" lvl="1">
              <a:lnSpc>
                <a:spcPts val="2745"/>
              </a:lnSpc>
              <a:buFont typeface="Arial"/>
              <a:buChar char="•"/>
            </a:pPr>
            <a:r>
              <a:rPr lang="en-US" sz="1961">
                <a:solidFill>
                  <a:srgbClr val="37403A"/>
                </a:solidFill>
                <a:latin typeface="Playfair Display"/>
                <a:ea typeface="Playfair Display"/>
                <a:cs typeface="Playfair Display"/>
                <a:sym typeface="Playfair Display"/>
              </a:rPr>
              <a:t>Single Responsibility Principle: Each state (Idle, Moving, DoorOpen) is isolated in its own class, making the code easier to debug.</a:t>
            </a:r>
          </a:p>
          <a:p>
            <a:pPr algn="l" marL="423460" indent="-211730" lvl="1">
              <a:lnSpc>
                <a:spcPts val="2745"/>
              </a:lnSpc>
              <a:buFont typeface="Arial"/>
              <a:buChar char="•"/>
            </a:pPr>
            <a:r>
              <a:rPr lang="en-US" sz="1961">
                <a:solidFill>
                  <a:srgbClr val="37403A"/>
                </a:solidFill>
                <a:latin typeface="Playfair Display"/>
                <a:ea typeface="Playfair Display"/>
                <a:cs typeface="Playfair Display"/>
                <a:sym typeface="Playfair Display"/>
              </a:rPr>
              <a:t>Open/Closed Principle: New states (like MaintenanceState or EmergencyState) can be added without modifying the existing Elevator class code.</a:t>
            </a:r>
          </a:p>
          <a:p>
            <a:pPr algn="l" marL="423460" indent="-211730" lvl="1">
              <a:lnSpc>
                <a:spcPts val="2745"/>
              </a:lnSpc>
              <a:buFont typeface="Arial"/>
              <a:buChar char="•"/>
            </a:pPr>
            <a:r>
              <a:rPr lang="en-US" sz="1961">
                <a:solidFill>
                  <a:srgbClr val="37403A"/>
                </a:solidFill>
                <a:latin typeface="Playfair Display"/>
                <a:ea typeface="Playfair Display"/>
                <a:cs typeface="Playfair Display"/>
                <a:sym typeface="Playfair Display"/>
              </a:rPr>
              <a:t>Elimination of "State Pollution": Prevents the "spaghetti code" that happens when multiple boolean flags (e.g., isMoving, isDoorOpen) conflict with each other.</a:t>
            </a:r>
          </a:p>
          <a:p>
            <a:pPr algn="l">
              <a:lnSpc>
                <a:spcPts val="2745"/>
              </a:lnSpc>
            </a:pPr>
          </a:p>
          <a:p>
            <a:pPr algn="l">
              <a:lnSpc>
                <a:spcPts val="2745"/>
              </a:lnSpc>
            </a:pPr>
            <a:r>
              <a:rPr lang="en-US" sz="1961">
                <a:solidFill>
                  <a:srgbClr val="37403A"/>
                </a:solidFill>
                <a:latin typeface="Playfair Display"/>
                <a:ea typeface="Playfair Display"/>
                <a:cs typeface="Playfair Display"/>
                <a:sym typeface="Playfair Display"/>
              </a:rPr>
              <a:t>Code Logic Snippet :</a:t>
            </a:r>
          </a:p>
          <a:p>
            <a:pPr algn="l">
              <a:lnSpc>
                <a:spcPts val="2745"/>
              </a:lnSpc>
            </a:pPr>
            <a:r>
              <a:rPr lang="en-US" sz="1961">
                <a:solidFill>
                  <a:srgbClr val="37403A"/>
                </a:solidFill>
                <a:latin typeface="Playfair Display"/>
                <a:ea typeface="Playfair Display"/>
                <a:cs typeface="Playfair Display"/>
                <a:sym typeface="Playfair Display"/>
              </a:rPr>
              <a:t>if (targetFloor &gt; currentFloor) {</a:t>
            </a:r>
          </a:p>
          <a:p>
            <a:pPr algn="l">
              <a:lnSpc>
                <a:spcPts val="2745"/>
              </a:lnSpc>
            </a:pPr>
            <a:r>
              <a:rPr lang="en-US" sz="1961">
                <a:solidFill>
                  <a:srgbClr val="37403A"/>
                </a:solidFill>
                <a:latin typeface="Playfair Display"/>
                <a:ea typeface="Playfair Display"/>
                <a:cs typeface="Playfair Display"/>
                <a:sym typeface="Playfair Display"/>
              </a:rPr>
              <a:t>    elevator.setState(new MovingUpState());</a:t>
            </a:r>
          </a:p>
          <a:p>
            <a:pPr algn="l">
              <a:lnSpc>
                <a:spcPts val="2745"/>
              </a:lnSpc>
            </a:pPr>
            <a:r>
              <a:rPr lang="en-US" sz="1961">
                <a:solidFill>
                  <a:srgbClr val="37403A"/>
                </a:solidFill>
                <a:latin typeface="Playfair Display"/>
                <a:ea typeface="Playfair Display"/>
                <a:cs typeface="Playfair Display"/>
                <a:sym typeface="Playfair Display"/>
              </a:rPr>
              <a:t>} else {</a:t>
            </a:r>
          </a:p>
          <a:p>
            <a:pPr algn="l">
              <a:lnSpc>
                <a:spcPts val="2745"/>
              </a:lnSpc>
            </a:pPr>
            <a:r>
              <a:rPr lang="en-US" sz="1961">
                <a:solidFill>
                  <a:srgbClr val="37403A"/>
                </a:solidFill>
                <a:latin typeface="Playfair Display"/>
                <a:ea typeface="Playfair Display"/>
                <a:cs typeface="Playfair Display"/>
                <a:sym typeface="Playfair Display"/>
              </a:rPr>
              <a:t>    elevator.setState(new MovingDownState());</a:t>
            </a:r>
          </a:p>
          <a:p>
            <a:pPr algn="l">
              <a:lnSpc>
                <a:spcPts val="2745"/>
              </a:lnSpc>
            </a:pPr>
            <a:r>
              <a:rPr lang="en-US" sz="1961">
                <a:solidFill>
                  <a:srgbClr val="37403A"/>
                </a:solidFill>
                <a:latin typeface="Playfair Display"/>
                <a:ea typeface="Playfair Display"/>
                <a:cs typeface="Playfair Display"/>
                <a:sym typeface="Playfair Display"/>
              </a:rPr>
              <a:t>}</a:t>
            </a:r>
          </a:p>
          <a:p>
            <a:pPr algn="l">
              <a:lnSpc>
                <a:spcPts val="2745"/>
              </a:lnSpc>
            </a:pPr>
            <a:r>
              <a:rPr lang="en-US" sz="1961">
                <a:solidFill>
                  <a:srgbClr val="37403A"/>
                </a:solidFill>
                <a:latin typeface="Playfair Display"/>
                <a:ea typeface="Playfair Display"/>
                <a:cs typeface="Playfair Display"/>
                <a:sym typeface="Playfair Display"/>
              </a:rPr>
              <a:t>elevator.requestFloor(targetFloor); // Delegation</a:t>
            </a:r>
          </a:p>
          <a:p>
            <a:pPr algn="l" marL="0" indent="0" lvl="0">
              <a:lnSpc>
                <a:spcPts val="2745"/>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4D6A50"/>
        </a:solidFill>
      </p:bgPr>
    </p:bg>
    <p:spTree>
      <p:nvGrpSpPr>
        <p:cNvPr id="1" name=""/>
        <p:cNvGrpSpPr/>
        <p:nvPr/>
      </p:nvGrpSpPr>
      <p:grpSpPr>
        <a:xfrm>
          <a:off x="0" y="0"/>
          <a:ext cx="0" cy="0"/>
          <a:chOff x="0" y="0"/>
          <a:chExt cx="0" cy="0"/>
        </a:xfrm>
      </p:grpSpPr>
      <p:grpSp>
        <p:nvGrpSpPr>
          <p:cNvPr name="Group 2" id="2"/>
          <p:cNvGrpSpPr/>
          <p:nvPr/>
        </p:nvGrpSpPr>
        <p:grpSpPr>
          <a:xfrm rot="-419880">
            <a:off x="-374761" y="-388791"/>
            <a:ext cx="7432281" cy="5697141"/>
            <a:chOff x="0" y="0"/>
            <a:chExt cx="9909708" cy="7596188"/>
          </a:xfrm>
        </p:grpSpPr>
        <p:sp>
          <p:nvSpPr>
            <p:cNvPr name="Freeform 3" id="3"/>
            <p:cNvSpPr/>
            <p:nvPr/>
          </p:nvSpPr>
          <p:spPr>
            <a:xfrm flipH="false" flipV="false" rot="0">
              <a:off x="0" y="0"/>
              <a:ext cx="9909683" cy="7596124"/>
            </a:xfrm>
            <a:custGeom>
              <a:avLst/>
              <a:gdLst/>
              <a:ahLst/>
              <a:cxnLst/>
              <a:rect r="r" b="b" t="t" l="l"/>
              <a:pathLst>
                <a:path h="7596124" w="9909683">
                  <a:moveTo>
                    <a:pt x="932434" y="0"/>
                  </a:moveTo>
                  <a:lnTo>
                    <a:pt x="0" y="7596124"/>
                  </a:lnTo>
                  <a:lnTo>
                    <a:pt x="9909683" y="7595870"/>
                  </a:lnTo>
                  <a:lnTo>
                    <a:pt x="9909556" y="1101979"/>
                  </a:lnTo>
                  <a:close/>
                </a:path>
              </a:pathLst>
            </a:custGeom>
            <a:blipFill>
              <a:blip r:embed="rId2">
                <a:alphaModFix amt="22999"/>
              </a:blip>
              <a:stretch>
                <a:fillRect l="-39990" t="-71892" r="-31" b="-10776"/>
              </a:stretch>
            </a:blipFill>
          </p:spPr>
        </p:sp>
      </p:grpSp>
      <p:grpSp>
        <p:nvGrpSpPr>
          <p:cNvPr name="Group 4" id="4"/>
          <p:cNvGrpSpPr/>
          <p:nvPr/>
        </p:nvGrpSpPr>
        <p:grpSpPr>
          <a:xfrm rot="-960000">
            <a:off x="11029702" y="4619244"/>
            <a:ext cx="8305181" cy="6428784"/>
            <a:chOff x="0" y="0"/>
            <a:chExt cx="11073574" cy="8571713"/>
          </a:xfrm>
        </p:grpSpPr>
        <p:sp>
          <p:nvSpPr>
            <p:cNvPr name="Freeform 5" id="5"/>
            <p:cNvSpPr/>
            <p:nvPr/>
          </p:nvSpPr>
          <p:spPr>
            <a:xfrm flipH="false" flipV="false" rot="0">
              <a:off x="0" y="0"/>
              <a:ext cx="11073638" cy="8571738"/>
            </a:xfrm>
            <a:custGeom>
              <a:avLst/>
              <a:gdLst/>
              <a:ahLst/>
              <a:cxnLst/>
              <a:rect r="r" b="b" t="t" l="l"/>
              <a:pathLst>
                <a:path h="8571738" w="11073638">
                  <a:moveTo>
                    <a:pt x="11073638" y="127"/>
                  </a:moveTo>
                  <a:lnTo>
                    <a:pt x="0" y="0"/>
                  </a:lnTo>
                  <a:lnTo>
                    <a:pt x="0" y="6101080"/>
                  </a:lnTo>
                  <a:lnTo>
                    <a:pt x="8615680" y="8571738"/>
                  </a:lnTo>
                  <a:lnTo>
                    <a:pt x="11073638" y="127"/>
                  </a:lnTo>
                  <a:close/>
                </a:path>
              </a:pathLst>
            </a:custGeom>
            <a:blipFill>
              <a:blip r:embed="rId2">
                <a:alphaModFix amt="22999"/>
              </a:blip>
              <a:stretch>
                <a:fillRect l="0" t="-9507" r="-25302" b="-52367"/>
              </a:stretch>
            </a:blipFill>
          </p:spPr>
        </p:sp>
      </p:grpSp>
      <p:grpSp>
        <p:nvGrpSpPr>
          <p:cNvPr name="Group 6" id="6"/>
          <p:cNvGrpSpPr/>
          <p:nvPr/>
        </p:nvGrpSpPr>
        <p:grpSpPr>
          <a:xfrm rot="0">
            <a:off x="9793976" y="4320064"/>
            <a:ext cx="7573632" cy="5050088"/>
            <a:chOff x="0" y="0"/>
            <a:chExt cx="10098176" cy="6733451"/>
          </a:xfrm>
        </p:grpSpPr>
        <p:sp>
          <p:nvSpPr>
            <p:cNvPr name="Freeform 7" id="7"/>
            <p:cNvSpPr/>
            <p:nvPr/>
          </p:nvSpPr>
          <p:spPr>
            <a:xfrm flipH="false" flipV="false" rot="0">
              <a:off x="0" y="0"/>
              <a:ext cx="10097897" cy="6733413"/>
            </a:xfrm>
            <a:custGeom>
              <a:avLst/>
              <a:gdLst/>
              <a:ahLst/>
              <a:cxnLst/>
              <a:rect r="r" b="b" t="t" l="l"/>
              <a:pathLst>
                <a:path h="6733413" w="10097897">
                  <a:moveTo>
                    <a:pt x="776986" y="0"/>
                  </a:moveTo>
                  <a:cubicBezTo>
                    <a:pt x="765175" y="0"/>
                    <a:pt x="753364" y="381"/>
                    <a:pt x="741553" y="889"/>
                  </a:cubicBezTo>
                  <a:cubicBezTo>
                    <a:pt x="728853" y="1524"/>
                    <a:pt x="716026" y="2413"/>
                    <a:pt x="703326" y="3683"/>
                  </a:cubicBezTo>
                  <a:cubicBezTo>
                    <a:pt x="690626" y="4953"/>
                    <a:pt x="677926" y="6477"/>
                    <a:pt x="665353" y="8382"/>
                  </a:cubicBezTo>
                  <a:cubicBezTo>
                    <a:pt x="652780" y="10287"/>
                    <a:pt x="640207" y="12446"/>
                    <a:pt x="627634" y="14859"/>
                  </a:cubicBezTo>
                  <a:cubicBezTo>
                    <a:pt x="615061" y="17272"/>
                    <a:pt x="602615" y="20193"/>
                    <a:pt x="590296" y="23241"/>
                  </a:cubicBezTo>
                  <a:cubicBezTo>
                    <a:pt x="577977" y="26289"/>
                    <a:pt x="565658" y="29718"/>
                    <a:pt x="553466" y="33401"/>
                  </a:cubicBezTo>
                  <a:cubicBezTo>
                    <a:pt x="541274" y="37084"/>
                    <a:pt x="529082" y="41148"/>
                    <a:pt x="517144" y="45466"/>
                  </a:cubicBezTo>
                  <a:cubicBezTo>
                    <a:pt x="505206" y="49784"/>
                    <a:pt x="493268" y="54356"/>
                    <a:pt x="481457" y="59309"/>
                  </a:cubicBezTo>
                  <a:cubicBezTo>
                    <a:pt x="469646" y="64262"/>
                    <a:pt x="457962" y="69342"/>
                    <a:pt x="446405" y="74803"/>
                  </a:cubicBezTo>
                  <a:cubicBezTo>
                    <a:pt x="434848" y="80264"/>
                    <a:pt x="423418" y="85979"/>
                    <a:pt x="412242" y="91948"/>
                  </a:cubicBezTo>
                  <a:cubicBezTo>
                    <a:pt x="401066" y="97917"/>
                    <a:pt x="389890" y="104267"/>
                    <a:pt x="378968" y="110871"/>
                  </a:cubicBezTo>
                  <a:cubicBezTo>
                    <a:pt x="368046" y="117475"/>
                    <a:pt x="357251" y="124206"/>
                    <a:pt x="346583" y="131318"/>
                  </a:cubicBezTo>
                  <a:cubicBezTo>
                    <a:pt x="335915" y="138430"/>
                    <a:pt x="325501" y="145796"/>
                    <a:pt x="315341" y="153289"/>
                  </a:cubicBezTo>
                  <a:cubicBezTo>
                    <a:pt x="305181" y="160782"/>
                    <a:pt x="295021" y="168783"/>
                    <a:pt x="285115" y="176784"/>
                  </a:cubicBezTo>
                  <a:cubicBezTo>
                    <a:pt x="275209" y="184785"/>
                    <a:pt x="265557" y="193167"/>
                    <a:pt x="256159" y="201803"/>
                  </a:cubicBezTo>
                  <a:cubicBezTo>
                    <a:pt x="246761" y="210439"/>
                    <a:pt x="237490" y="219202"/>
                    <a:pt x="228473" y="228219"/>
                  </a:cubicBezTo>
                  <a:cubicBezTo>
                    <a:pt x="219456" y="237236"/>
                    <a:pt x="210693" y="246507"/>
                    <a:pt x="202057" y="255905"/>
                  </a:cubicBezTo>
                  <a:cubicBezTo>
                    <a:pt x="193421" y="265303"/>
                    <a:pt x="185166" y="274955"/>
                    <a:pt x="177038" y="284861"/>
                  </a:cubicBezTo>
                  <a:cubicBezTo>
                    <a:pt x="168910" y="294767"/>
                    <a:pt x="161163" y="304800"/>
                    <a:pt x="153543" y="315087"/>
                  </a:cubicBezTo>
                  <a:cubicBezTo>
                    <a:pt x="145923" y="325374"/>
                    <a:pt x="138557" y="335788"/>
                    <a:pt x="131445" y="346329"/>
                  </a:cubicBezTo>
                  <a:cubicBezTo>
                    <a:pt x="124333" y="356870"/>
                    <a:pt x="117475" y="367665"/>
                    <a:pt x="110998" y="378714"/>
                  </a:cubicBezTo>
                  <a:cubicBezTo>
                    <a:pt x="104521" y="389763"/>
                    <a:pt x="98171" y="400685"/>
                    <a:pt x="92075" y="411988"/>
                  </a:cubicBezTo>
                  <a:cubicBezTo>
                    <a:pt x="85979" y="423291"/>
                    <a:pt x="80264" y="434594"/>
                    <a:pt x="74803" y="446151"/>
                  </a:cubicBezTo>
                  <a:cubicBezTo>
                    <a:pt x="69342" y="457708"/>
                    <a:pt x="64135" y="469392"/>
                    <a:pt x="59309" y="481203"/>
                  </a:cubicBezTo>
                  <a:cubicBezTo>
                    <a:pt x="54483" y="493014"/>
                    <a:pt x="49784" y="504952"/>
                    <a:pt x="45466" y="516890"/>
                  </a:cubicBezTo>
                  <a:cubicBezTo>
                    <a:pt x="41148" y="528828"/>
                    <a:pt x="37211" y="541020"/>
                    <a:pt x="33401" y="553212"/>
                  </a:cubicBezTo>
                  <a:cubicBezTo>
                    <a:pt x="29591" y="565404"/>
                    <a:pt x="26289" y="577723"/>
                    <a:pt x="23241" y="590042"/>
                  </a:cubicBezTo>
                  <a:cubicBezTo>
                    <a:pt x="20193" y="602361"/>
                    <a:pt x="17399" y="614934"/>
                    <a:pt x="14859" y="627380"/>
                  </a:cubicBezTo>
                  <a:cubicBezTo>
                    <a:pt x="12319" y="639826"/>
                    <a:pt x="10287" y="652780"/>
                    <a:pt x="8509" y="665353"/>
                  </a:cubicBezTo>
                  <a:cubicBezTo>
                    <a:pt x="6731" y="677926"/>
                    <a:pt x="4953" y="690626"/>
                    <a:pt x="3810" y="703326"/>
                  </a:cubicBezTo>
                  <a:cubicBezTo>
                    <a:pt x="2667" y="716026"/>
                    <a:pt x="1651" y="728726"/>
                    <a:pt x="1016" y="741553"/>
                  </a:cubicBezTo>
                  <a:cubicBezTo>
                    <a:pt x="381" y="753745"/>
                    <a:pt x="0" y="765810"/>
                    <a:pt x="0" y="778002"/>
                  </a:cubicBezTo>
                  <a:lnTo>
                    <a:pt x="0" y="5955411"/>
                  </a:lnTo>
                  <a:cubicBezTo>
                    <a:pt x="0" y="5967603"/>
                    <a:pt x="381" y="5979668"/>
                    <a:pt x="889" y="5991860"/>
                  </a:cubicBezTo>
                  <a:cubicBezTo>
                    <a:pt x="1524" y="6004560"/>
                    <a:pt x="2413" y="6017387"/>
                    <a:pt x="3683" y="6030087"/>
                  </a:cubicBezTo>
                  <a:cubicBezTo>
                    <a:pt x="4953" y="6042787"/>
                    <a:pt x="6477" y="6055487"/>
                    <a:pt x="8382" y="6068060"/>
                  </a:cubicBezTo>
                  <a:cubicBezTo>
                    <a:pt x="10287" y="6080633"/>
                    <a:pt x="12446" y="6093333"/>
                    <a:pt x="14859" y="6105779"/>
                  </a:cubicBezTo>
                  <a:cubicBezTo>
                    <a:pt x="17272" y="6118225"/>
                    <a:pt x="20193" y="6130798"/>
                    <a:pt x="23241" y="6143117"/>
                  </a:cubicBezTo>
                  <a:cubicBezTo>
                    <a:pt x="26289" y="6155436"/>
                    <a:pt x="29718" y="6167755"/>
                    <a:pt x="33401" y="6179947"/>
                  </a:cubicBezTo>
                  <a:cubicBezTo>
                    <a:pt x="37084" y="6192139"/>
                    <a:pt x="41148" y="6204331"/>
                    <a:pt x="45466" y="6216269"/>
                  </a:cubicBezTo>
                  <a:cubicBezTo>
                    <a:pt x="49784" y="6228207"/>
                    <a:pt x="54356" y="6240145"/>
                    <a:pt x="59309" y="6251956"/>
                  </a:cubicBezTo>
                  <a:cubicBezTo>
                    <a:pt x="64262" y="6263767"/>
                    <a:pt x="69342" y="6275451"/>
                    <a:pt x="74803" y="6286881"/>
                  </a:cubicBezTo>
                  <a:cubicBezTo>
                    <a:pt x="80264" y="6298311"/>
                    <a:pt x="85979" y="6309868"/>
                    <a:pt x="92075" y="6321044"/>
                  </a:cubicBezTo>
                  <a:cubicBezTo>
                    <a:pt x="98171" y="6332220"/>
                    <a:pt x="104394" y="6343396"/>
                    <a:pt x="110998" y="6354318"/>
                  </a:cubicBezTo>
                  <a:cubicBezTo>
                    <a:pt x="117602" y="6365240"/>
                    <a:pt x="124333" y="6376035"/>
                    <a:pt x="131445" y="6386703"/>
                  </a:cubicBezTo>
                  <a:cubicBezTo>
                    <a:pt x="138557" y="6397371"/>
                    <a:pt x="145923" y="6407785"/>
                    <a:pt x="153543" y="6417945"/>
                  </a:cubicBezTo>
                  <a:cubicBezTo>
                    <a:pt x="161163" y="6428105"/>
                    <a:pt x="169037" y="6438265"/>
                    <a:pt x="177038" y="6448171"/>
                  </a:cubicBezTo>
                  <a:cubicBezTo>
                    <a:pt x="185039" y="6458077"/>
                    <a:pt x="193421" y="6467729"/>
                    <a:pt x="202057" y="6477127"/>
                  </a:cubicBezTo>
                  <a:cubicBezTo>
                    <a:pt x="210693" y="6486525"/>
                    <a:pt x="219456" y="6495796"/>
                    <a:pt x="228473" y="6504813"/>
                  </a:cubicBezTo>
                  <a:cubicBezTo>
                    <a:pt x="237490" y="6513830"/>
                    <a:pt x="246761" y="6522593"/>
                    <a:pt x="256159" y="6531229"/>
                  </a:cubicBezTo>
                  <a:cubicBezTo>
                    <a:pt x="265557" y="6539865"/>
                    <a:pt x="275209" y="6548120"/>
                    <a:pt x="285115" y="6556248"/>
                  </a:cubicBezTo>
                  <a:cubicBezTo>
                    <a:pt x="295021" y="6564376"/>
                    <a:pt x="305054" y="6572250"/>
                    <a:pt x="315341" y="6579743"/>
                  </a:cubicBezTo>
                  <a:cubicBezTo>
                    <a:pt x="325628" y="6587236"/>
                    <a:pt x="336042" y="6594729"/>
                    <a:pt x="346583" y="6601841"/>
                  </a:cubicBezTo>
                  <a:cubicBezTo>
                    <a:pt x="357124" y="6608953"/>
                    <a:pt x="368046" y="6615684"/>
                    <a:pt x="378968" y="6622288"/>
                  </a:cubicBezTo>
                  <a:cubicBezTo>
                    <a:pt x="389890" y="6628892"/>
                    <a:pt x="401066" y="6635115"/>
                    <a:pt x="412242" y="6641211"/>
                  </a:cubicBezTo>
                  <a:cubicBezTo>
                    <a:pt x="423418" y="6647307"/>
                    <a:pt x="434848" y="6653022"/>
                    <a:pt x="446405" y="6658483"/>
                  </a:cubicBezTo>
                  <a:cubicBezTo>
                    <a:pt x="457962" y="6663944"/>
                    <a:pt x="469646" y="6669151"/>
                    <a:pt x="481457" y="6673977"/>
                  </a:cubicBezTo>
                  <a:cubicBezTo>
                    <a:pt x="493268" y="6678803"/>
                    <a:pt x="505206" y="6683502"/>
                    <a:pt x="517144" y="6687820"/>
                  </a:cubicBezTo>
                  <a:cubicBezTo>
                    <a:pt x="529082" y="6692138"/>
                    <a:pt x="541274" y="6696075"/>
                    <a:pt x="553466" y="6699885"/>
                  </a:cubicBezTo>
                  <a:cubicBezTo>
                    <a:pt x="565658" y="6703695"/>
                    <a:pt x="577977" y="6706997"/>
                    <a:pt x="590296" y="6710045"/>
                  </a:cubicBezTo>
                  <a:cubicBezTo>
                    <a:pt x="602615" y="6713093"/>
                    <a:pt x="615061" y="6715887"/>
                    <a:pt x="627634" y="6718427"/>
                  </a:cubicBezTo>
                  <a:cubicBezTo>
                    <a:pt x="640207" y="6720967"/>
                    <a:pt x="652653" y="6723126"/>
                    <a:pt x="665353" y="6725031"/>
                  </a:cubicBezTo>
                  <a:cubicBezTo>
                    <a:pt x="678053" y="6726936"/>
                    <a:pt x="690626" y="6728460"/>
                    <a:pt x="703326" y="6729730"/>
                  </a:cubicBezTo>
                  <a:cubicBezTo>
                    <a:pt x="716026" y="6731000"/>
                    <a:pt x="728726" y="6731889"/>
                    <a:pt x="741553" y="6732524"/>
                  </a:cubicBezTo>
                  <a:cubicBezTo>
                    <a:pt x="754380" y="6733159"/>
                    <a:pt x="767080" y="6733413"/>
                    <a:pt x="779780" y="6733413"/>
                  </a:cubicBezTo>
                  <a:lnTo>
                    <a:pt x="9318371" y="6733413"/>
                  </a:lnTo>
                  <a:cubicBezTo>
                    <a:pt x="9331198" y="6733413"/>
                    <a:pt x="9343898" y="6733159"/>
                    <a:pt x="9356598" y="6732524"/>
                  </a:cubicBezTo>
                  <a:cubicBezTo>
                    <a:pt x="9369298" y="6731889"/>
                    <a:pt x="9382125" y="6731000"/>
                    <a:pt x="9394825" y="6729730"/>
                  </a:cubicBezTo>
                  <a:cubicBezTo>
                    <a:pt x="9407525" y="6728460"/>
                    <a:pt x="9420225" y="6726936"/>
                    <a:pt x="9432798" y="6725031"/>
                  </a:cubicBezTo>
                  <a:cubicBezTo>
                    <a:pt x="9445371" y="6723126"/>
                    <a:pt x="9457944" y="6720967"/>
                    <a:pt x="9470517" y="6718554"/>
                  </a:cubicBezTo>
                  <a:cubicBezTo>
                    <a:pt x="9483089" y="6716141"/>
                    <a:pt x="9495536" y="6713220"/>
                    <a:pt x="9507855" y="6710172"/>
                  </a:cubicBezTo>
                  <a:cubicBezTo>
                    <a:pt x="9520174" y="6707124"/>
                    <a:pt x="9532493" y="6703695"/>
                    <a:pt x="9544685" y="6700012"/>
                  </a:cubicBezTo>
                  <a:cubicBezTo>
                    <a:pt x="9556877" y="6696329"/>
                    <a:pt x="9568942" y="6692265"/>
                    <a:pt x="9581007" y="6687947"/>
                  </a:cubicBezTo>
                  <a:cubicBezTo>
                    <a:pt x="9593072" y="6683629"/>
                    <a:pt x="9604883" y="6679057"/>
                    <a:pt x="9616694" y="6674104"/>
                  </a:cubicBezTo>
                  <a:cubicBezTo>
                    <a:pt x="9628505" y="6669151"/>
                    <a:pt x="9640189" y="6664071"/>
                    <a:pt x="9651746" y="6658610"/>
                  </a:cubicBezTo>
                  <a:cubicBezTo>
                    <a:pt x="9663302" y="6653149"/>
                    <a:pt x="9674606" y="6647434"/>
                    <a:pt x="9685909" y="6641338"/>
                  </a:cubicBezTo>
                  <a:cubicBezTo>
                    <a:pt x="9697212" y="6635242"/>
                    <a:pt x="9708261" y="6629019"/>
                    <a:pt x="9719183" y="6622415"/>
                  </a:cubicBezTo>
                  <a:cubicBezTo>
                    <a:pt x="9730105" y="6615811"/>
                    <a:pt x="9740900" y="6609080"/>
                    <a:pt x="9751568" y="6601968"/>
                  </a:cubicBezTo>
                  <a:cubicBezTo>
                    <a:pt x="9762236" y="6594856"/>
                    <a:pt x="9772523" y="6587490"/>
                    <a:pt x="9782810" y="6579870"/>
                  </a:cubicBezTo>
                  <a:cubicBezTo>
                    <a:pt x="9793097" y="6572250"/>
                    <a:pt x="9803130" y="6564376"/>
                    <a:pt x="9813036" y="6556375"/>
                  </a:cubicBezTo>
                  <a:cubicBezTo>
                    <a:pt x="9822942" y="6548374"/>
                    <a:pt x="9832594" y="6539992"/>
                    <a:pt x="9841992" y="6531356"/>
                  </a:cubicBezTo>
                  <a:cubicBezTo>
                    <a:pt x="9851389" y="6522720"/>
                    <a:pt x="9860661" y="6513957"/>
                    <a:pt x="9869677" y="6504940"/>
                  </a:cubicBezTo>
                  <a:cubicBezTo>
                    <a:pt x="9878695" y="6495923"/>
                    <a:pt x="9887458" y="6486652"/>
                    <a:pt x="9896094" y="6477254"/>
                  </a:cubicBezTo>
                  <a:cubicBezTo>
                    <a:pt x="9904730" y="6467856"/>
                    <a:pt x="9912985" y="6458077"/>
                    <a:pt x="9921113" y="6448298"/>
                  </a:cubicBezTo>
                  <a:cubicBezTo>
                    <a:pt x="9929240" y="6438519"/>
                    <a:pt x="9937114" y="6428359"/>
                    <a:pt x="9944608" y="6418072"/>
                  </a:cubicBezTo>
                  <a:cubicBezTo>
                    <a:pt x="9952101" y="6407785"/>
                    <a:pt x="9959594" y="6397371"/>
                    <a:pt x="9966578" y="6386830"/>
                  </a:cubicBezTo>
                  <a:cubicBezTo>
                    <a:pt x="9973564" y="6376289"/>
                    <a:pt x="9980549" y="6365494"/>
                    <a:pt x="9987026" y="6354445"/>
                  </a:cubicBezTo>
                  <a:cubicBezTo>
                    <a:pt x="9993502" y="6343396"/>
                    <a:pt x="9999852" y="6332347"/>
                    <a:pt x="10005949" y="6321171"/>
                  </a:cubicBezTo>
                  <a:cubicBezTo>
                    <a:pt x="10012045" y="6309995"/>
                    <a:pt x="10017633" y="6298565"/>
                    <a:pt x="10023094" y="6287008"/>
                  </a:cubicBezTo>
                  <a:cubicBezTo>
                    <a:pt x="10028555" y="6275451"/>
                    <a:pt x="10033762" y="6263767"/>
                    <a:pt x="10038588" y="6252083"/>
                  </a:cubicBezTo>
                  <a:cubicBezTo>
                    <a:pt x="10043414" y="6240399"/>
                    <a:pt x="10048113" y="6228334"/>
                    <a:pt x="10052303" y="6216396"/>
                  </a:cubicBezTo>
                  <a:cubicBezTo>
                    <a:pt x="10056495" y="6204458"/>
                    <a:pt x="10060559" y="6192266"/>
                    <a:pt x="10064369" y="6180074"/>
                  </a:cubicBezTo>
                  <a:cubicBezTo>
                    <a:pt x="10068178" y="6167882"/>
                    <a:pt x="10071481" y="6155563"/>
                    <a:pt x="10074528" y="6143244"/>
                  </a:cubicBezTo>
                  <a:cubicBezTo>
                    <a:pt x="10077577" y="6130925"/>
                    <a:pt x="10080371" y="6118479"/>
                    <a:pt x="10082911" y="6105906"/>
                  </a:cubicBezTo>
                  <a:cubicBezTo>
                    <a:pt x="10085451" y="6093333"/>
                    <a:pt x="10087610" y="6080760"/>
                    <a:pt x="10089514" y="6068187"/>
                  </a:cubicBezTo>
                  <a:cubicBezTo>
                    <a:pt x="10091420" y="6055614"/>
                    <a:pt x="10092944" y="6042914"/>
                    <a:pt x="10094214" y="6030214"/>
                  </a:cubicBezTo>
                  <a:cubicBezTo>
                    <a:pt x="10095484" y="6017514"/>
                    <a:pt x="10096373" y="6004814"/>
                    <a:pt x="10097008" y="5991987"/>
                  </a:cubicBezTo>
                  <a:cubicBezTo>
                    <a:pt x="10097643" y="5979160"/>
                    <a:pt x="10097897" y="5966460"/>
                    <a:pt x="10097897" y="5953760"/>
                  </a:cubicBezTo>
                  <a:lnTo>
                    <a:pt x="10097897" y="779780"/>
                  </a:lnTo>
                  <a:cubicBezTo>
                    <a:pt x="10097897" y="767080"/>
                    <a:pt x="10097643" y="754253"/>
                    <a:pt x="10097008" y="741553"/>
                  </a:cubicBezTo>
                  <a:cubicBezTo>
                    <a:pt x="10096373" y="728853"/>
                    <a:pt x="10095484" y="716026"/>
                    <a:pt x="10094214" y="703326"/>
                  </a:cubicBezTo>
                  <a:cubicBezTo>
                    <a:pt x="10092944" y="690626"/>
                    <a:pt x="10091420" y="677926"/>
                    <a:pt x="10089514" y="665353"/>
                  </a:cubicBezTo>
                  <a:cubicBezTo>
                    <a:pt x="10087610" y="652780"/>
                    <a:pt x="10085451" y="640207"/>
                    <a:pt x="10082911" y="627634"/>
                  </a:cubicBezTo>
                  <a:cubicBezTo>
                    <a:pt x="10080371" y="615061"/>
                    <a:pt x="10077577" y="602615"/>
                    <a:pt x="10074528" y="590296"/>
                  </a:cubicBezTo>
                  <a:cubicBezTo>
                    <a:pt x="10071481" y="577977"/>
                    <a:pt x="10068052" y="565658"/>
                    <a:pt x="10064369" y="553466"/>
                  </a:cubicBezTo>
                  <a:cubicBezTo>
                    <a:pt x="10060686" y="541274"/>
                    <a:pt x="10056622" y="529082"/>
                    <a:pt x="10052303" y="517144"/>
                  </a:cubicBezTo>
                  <a:cubicBezTo>
                    <a:pt x="10047986" y="505206"/>
                    <a:pt x="10043414" y="493268"/>
                    <a:pt x="10038588" y="481457"/>
                  </a:cubicBezTo>
                  <a:cubicBezTo>
                    <a:pt x="10033762" y="469646"/>
                    <a:pt x="10028555" y="457962"/>
                    <a:pt x="10023094" y="446405"/>
                  </a:cubicBezTo>
                  <a:cubicBezTo>
                    <a:pt x="10017633" y="434848"/>
                    <a:pt x="10011918" y="423418"/>
                    <a:pt x="10005949" y="412242"/>
                  </a:cubicBezTo>
                  <a:cubicBezTo>
                    <a:pt x="9999980" y="401066"/>
                    <a:pt x="9993630" y="389890"/>
                    <a:pt x="9987026" y="378968"/>
                  </a:cubicBezTo>
                  <a:cubicBezTo>
                    <a:pt x="9980422" y="368046"/>
                    <a:pt x="9973690" y="357251"/>
                    <a:pt x="9966578" y="346583"/>
                  </a:cubicBezTo>
                  <a:cubicBezTo>
                    <a:pt x="9959467" y="335915"/>
                    <a:pt x="9952101" y="325501"/>
                    <a:pt x="9944608" y="315341"/>
                  </a:cubicBezTo>
                  <a:cubicBezTo>
                    <a:pt x="9937114" y="305181"/>
                    <a:pt x="9929114" y="295021"/>
                    <a:pt x="9921113" y="285115"/>
                  </a:cubicBezTo>
                  <a:cubicBezTo>
                    <a:pt x="9913112" y="275209"/>
                    <a:pt x="9904730" y="265557"/>
                    <a:pt x="9896094" y="256159"/>
                  </a:cubicBezTo>
                  <a:cubicBezTo>
                    <a:pt x="9887458" y="246761"/>
                    <a:pt x="9878695" y="237490"/>
                    <a:pt x="9869677" y="228473"/>
                  </a:cubicBezTo>
                  <a:cubicBezTo>
                    <a:pt x="9860661" y="219456"/>
                    <a:pt x="9851389" y="210693"/>
                    <a:pt x="9841992" y="202057"/>
                  </a:cubicBezTo>
                  <a:cubicBezTo>
                    <a:pt x="9832594" y="193421"/>
                    <a:pt x="9822814" y="185166"/>
                    <a:pt x="9813036" y="177038"/>
                  </a:cubicBezTo>
                  <a:cubicBezTo>
                    <a:pt x="9803257" y="168910"/>
                    <a:pt x="9793097" y="161036"/>
                    <a:pt x="9782810" y="153543"/>
                  </a:cubicBezTo>
                  <a:cubicBezTo>
                    <a:pt x="9772523" y="146050"/>
                    <a:pt x="9762109" y="138557"/>
                    <a:pt x="9751568" y="131572"/>
                  </a:cubicBezTo>
                  <a:cubicBezTo>
                    <a:pt x="9741027" y="124587"/>
                    <a:pt x="9730232" y="117602"/>
                    <a:pt x="9719183" y="111125"/>
                  </a:cubicBezTo>
                  <a:cubicBezTo>
                    <a:pt x="9708134" y="104648"/>
                    <a:pt x="9697085" y="98298"/>
                    <a:pt x="9685909" y="92202"/>
                  </a:cubicBezTo>
                  <a:cubicBezTo>
                    <a:pt x="9674733" y="86106"/>
                    <a:pt x="9663302" y="80391"/>
                    <a:pt x="9651746" y="75057"/>
                  </a:cubicBezTo>
                  <a:cubicBezTo>
                    <a:pt x="9640189" y="69723"/>
                    <a:pt x="9628505" y="64389"/>
                    <a:pt x="9616694" y="59563"/>
                  </a:cubicBezTo>
                  <a:cubicBezTo>
                    <a:pt x="9604883" y="54737"/>
                    <a:pt x="9592945" y="50038"/>
                    <a:pt x="9581007" y="45720"/>
                  </a:cubicBezTo>
                  <a:cubicBezTo>
                    <a:pt x="9569069" y="41402"/>
                    <a:pt x="9556877" y="37465"/>
                    <a:pt x="9544685" y="33655"/>
                  </a:cubicBezTo>
                  <a:cubicBezTo>
                    <a:pt x="9532493" y="29845"/>
                    <a:pt x="9520174" y="26543"/>
                    <a:pt x="9507855" y="23495"/>
                  </a:cubicBezTo>
                  <a:cubicBezTo>
                    <a:pt x="9495536" y="20447"/>
                    <a:pt x="9482963" y="17653"/>
                    <a:pt x="9470517" y="15113"/>
                  </a:cubicBezTo>
                  <a:cubicBezTo>
                    <a:pt x="9458071" y="12573"/>
                    <a:pt x="9445498" y="10414"/>
                    <a:pt x="9432798" y="8636"/>
                  </a:cubicBezTo>
                  <a:cubicBezTo>
                    <a:pt x="9420098" y="6858"/>
                    <a:pt x="9407525" y="5207"/>
                    <a:pt x="9394825" y="3937"/>
                  </a:cubicBezTo>
                  <a:cubicBezTo>
                    <a:pt x="9382125" y="2667"/>
                    <a:pt x="9369425" y="1778"/>
                    <a:pt x="9356598" y="1143"/>
                  </a:cubicBezTo>
                  <a:cubicBezTo>
                    <a:pt x="9344787" y="508"/>
                    <a:pt x="9332976" y="254"/>
                    <a:pt x="9321164" y="254"/>
                  </a:cubicBezTo>
                  <a:close/>
                </a:path>
              </a:pathLst>
            </a:custGeom>
            <a:blipFill>
              <a:blip r:embed="rId3"/>
              <a:stretch>
                <a:fillRect l="0" t="0" r="-7" b="-33"/>
              </a:stretch>
            </a:blipFill>
          </p:spPr>
        </p:sp>
      </p:grpSp>
      <p:sp>
        <p:nvSpPr>
          <p:cNvPr name="TextBox 8" id="8"/>
          <p:cNvSpPr txBox="true"/>
          <p:nvPr/>
        </p:nvSpPr>
        <p:spPr>
          <a:xfrm rot="0">
            <a:off x="2257396" y="1770536"/>
            <a:ext cx="14051756" cy="1198388"/>
          </a:xfrm>
          <a:prstGeom prst="rect">
            <a:avLst/>
          </a:prstGeom>
        </p:spPr>
        <p:txBody>
          <a:bodyPr anchor="t" rtlCol="false" tIns="0" lIns="0" bIns="0" rIns="0">
            <a:spAutoFit/>
          </a:bodyPr>
          <a:lstStyle/>
          <a:p>
            <a:pPr algn="l">
              <a:lnSpc>
                <a:spcPts val="9519"/>
              </a:lnSpc>
            </a:pPr>
            <a:r>
              <a:rPr lang="en-US" sz="6800">
                <a:solidFill>
                  <a:srgbClr val="F1EADE"/>
                </a:solidFill>
                <a:latin typeface="Playfair Display"/>
                <a:ea typeface="Playfair Display"/>
                <a:cs typeface="Playfair Display"/>
                <a:sym typeface="Playfair Display"/>
              </a:rPr>
              <a:t>Key Takeaways &amp; Future Directions</a:t>
            </a:r>
          </a:p>
        </p:txBody>
      </p:sp>
      <p:sp>
        <p:nvSpPr>
          <p:cNvPr name="TextBox 9" id="9"/>
          <p:cNvSpPr txBox="true"/>
          <p:nvPr/>
        </p:nvSpPr>
        <p:spPr>
          <a:xfrm rot="0">
            <a:off x="815911" y="7543667"/>
            <a:ext cx="3613004" cy="1047750"/>
          </a:xfrm>
          <a:prstGeom prst="rect">
            <a:avLst/>
          </a:prstGeom>
        </p:spPr>
        <p:txBody>
          <a:bodyPr anchor="t" rtlCol="false" tIns="0" lIns="0" bIns="0" rIns="0">
            <a:spAutoFit/>
          </a:bodyPr>
          <a:lstStyle/>
          <a:p>
            <a:pPr algn="l">
              <a:lnSpc>
                <a:spcPts val="4200"/>
              </a:lnSpc>
            </a:pPr>
            <a:r>
              <a:rPr lang="en-US" sz="3000">
                <a:solidFill>
                  <a:srgbClr val="F1EADE"/>
                </a:solidFill>
                <a:latin typeface="Playfair Display"/>
                <a:ea typeface="Playfair Display"/>
                <a:cs typeface="Playfair Display"/>
                <a:sym typeface="Playfair Display"/>
              </a:rPr>
              <a:t>Future Enhancements</a:t>
            </a:r>
          </a:p>
        </p:txBody>
      </p:sp>
      <p:sp>
        <p:nvSpPr>
          <p:cNvPr name="TextBox 10" id="10"/>
          <p:cNvSpPr txBox="true"/>
          <p:nvPr/>
        </p:nvSpPr>
        <p:spPr>
          <a:xfrm rot="0">
            <a:off x="861251" y="3361492"/>
            <a:ext cx="4686757" cy="1047750"/>
          </a:xfrm>
          <a:prstGeom prst="rect">
            <a:avLst/>
          </a:prstGeom>
        </p:spPr>
        <p:txBody>
          <a:bodyPr anchor="t" rtlCol="false" tIns="0" lIns="0" bIns="0" rIns="0">
            <a:spAutoFit/>
          </a:bodyPr>
          <a:lstStyle/>
          <a:p>
            <a:pPr algn="l">
              <a:lnSpc>
                <a:spcPts val="4200"/>
              </a:lnSpc>
            </a:pPr>
            <a:r>
              <a:rPr lang="en-US" sz="3000">
                <a:solidFill>
                  <a:srgbClr val="F1EADE"/>
                </a:solidFill>
                <a:latin typeface="Playfair Display"/>
                <a:ea typeface="Playfair Display"/>
                <a:cs typeface="Playfair Display"/>
                <a:sym typeface="Playfair Display"/>
              </a:rPr>
              <a:t>State Pattern for Modularity</a:t>
            </a:r>
          </a:p>
        </p:txBody>
      </p:sp>
      <p:sp>
        <p:nvSpPr>
          <p:cNvPr name="TextBox 11" id="11"/>
          <p:cNvSpPr txBox="true"/>
          <p:nvPr/>
        </p:nvSpPr>
        <p:spPr>
          <a:xfrm rot="0">
            <a:off x="748117" y="5450076"/>
            <a:ext cx="5186524" cy="1047750"/>
          </a:xfrm>
          <a:prstGeom prst="rect">
            <a:avLst/>
          </a:prstGeom>
        </p:spPr>
        <p:txBody>
          <a:bodyPr anchor="t" rtlCol="false" tIns="0" lIns="0" bIns="0" rIns="0">
            <a:spAutoFit/>
          </a:bodyPr>
          <a:lstStyle/>
          <a:p>
            <a:pPr algn="l">
              <a:lnSpc>
                <a:spcPts val="4200"/>
              </a:lnSpc>
            </a:pPr>
            <a:r>
              <a:rPr lang="en-US" sz="3000">
                <a:solidFill>
                  <a:srgbClr val="F1EADE"/>
                </a:solidFill>
                <a:latin typeface="Playfair Display"/>
                <a:ea typeface="Playfair Display"/>
                <a:cs typeface="Playfair Display"/>
                <a:sym typeface="Playfair Display"/>
              </a:rPr>
              <a:t>Robust Multi-Request Handling</a:t>
            </a:r>
          </a:p>
        </p:txBody>
      </p:sp>
      <p:sp>
        <p:nvSpPr>
          <p:cNvPr name="TextBox 12" id="12"/>
          <p:cNvSpPr txBox="true"/>
          <p:nvPr/>
        </p:nvSpPr>
        <p:spPr>
          <a:xfrm rot="0">
            <a:off x="861251" y="8543792"/>
            <a:ext cx="5952363" cy="1431925"/>
          </a:xfrm>
          <a:prstGeom prst="rect">
            <a:avLst/>
          </a:prstGeom>
        </p:spPr>
        <p:txBody>
          <a:bodyPr anchor="t" rtlCol="false" tIns="0" lIns="0" bIns="0" rIns="0">
            <a:spAutoFit/>
          </a:bodyPr>
          <a:lstStyle/>
          <a:p>
            <a:pPr algn="just">
              <a:lnSpc>
                <a:spcPts val="2900"/>
              </a:lnSpc>
            </a:pPr>
            <a:r>
              <a:rPr lang="en-US" sz="2000">
                <a:solidFill>
                  <a:srgbClr val="F1EADE"/>
                </a:solidFill>
                <a:latin typeface="Playfair Display"/>
                <a:ea typeface="Playfair Display"/>
                <a:cs typeface="Playfair Display"/>
                <a:sym typeface="Playfair Display"/>
              </a:rPr>
              <a:t>Integrate smarter dispatch algorithms for efficiency Explore hardware integration with microcontrollers Leverage AI for predictive and adaptive elevator logic</a:t>
            </a:r>
          </a:p>
        </p:txBody>
      </p:sp>
      <p:sp>
        <p:nvSpPr>
          <p:cNvPr name="TextBox 13" id="13"/>
          <p:cNvSpPr txBox="true"/>
          <p:nvPr/>
        </p:nvSpPr>
        <p:spPr>
          <a:xfrm rot="0">
            <a:off x="818998" y="4361617"/>
            <a:ext cx="6378035" cy="1069975"/>
          </a:xfrm>
          <a:prstGeom prst="rect">
            <a:avLst/>
          </a:prstGeom>
        </p:spPr>
        <p:txBody>
          <a:bodyPr anchor="t" rtlCol="false" tIns="0" lIns="0" bIns="0" rIns="0">
            <a:spAutoFit/>
          </a:bodyPr>
          <a:lstStyle/>
          <a:p>
            <a:pPr algn="l">
              <a:lnSpc>
                <a:spcPts val="2900"/>
              </a:lnSpc>
            </a:pPr>
            <a:r>
              <a:rPr lang="en-US" sz="2000">
                <a:solidFill>
                  <a:srgbClr val="F1EADE"/>
                </a:solidFill>
                <a:latin typeface="Playfair Display"/>
                <a:ea typeface="Playfair Display"/>
                <a:cs typeface="Playfair Display"/>
                <a:sym typeface="Playfair Display"/>
              </a:rPr>
              <a:t>Elevator behaviors modeled as independent state objects Enables </a:t>
            </a:r>
            <a:r>
              <a:rPr lang="en-US" b="true" sz="2000">
                <a:solidFill>
                  <a:srgbClr val="F1EADE"/>
                </a:solidFill>
                <a:latin typeface="Playfair Display Bold"/>
                <a:ea typeface="Playfair Display Bold"/>
                <a:cs typeface="Playfair Display Bold"/>
                <a:sym typeface="Playfair Display Bold"/>
              </a:rPr>
              <a:t>scalable</a:t>
            </a:r>
            <a:r>
              <a:rPr lang="en-US" sz="2000">
                <a:solidFill>
                  <a:srgbClr val="F1EADE"/>
                </a:solidFill>
                <a:latin typeface="Playfair Display"/>
                <a:ea typeface="Playfair Display"/>
                <a:cs typeface="Playfair Display"/>
                <a:sym typeface="Playfair Display"/>
              </a:rPr>
              <a:t> and </a:t>
            </a:r>
            <a:r>
              <a:rPr lang="en-US" b="true" sz="2000">
                <a:solidFill>
                  <a:srgbClr val="F1EADE"/>
                </a:solidFill>
                <a:latin typeface="Playfair Display Bold"/>
                <a:ea typeface="Playfair Display Bold"/>
                <a:cs typeface="Playfair Display Bold"/>
                <a:sym typeface="Playfair Display Bold"/>
              </a:rPr>
              <a:t>maintainable</a:t>
            </a:r>
            <a:r>
              <a:rPr lang="en-US" sz="2000">
                <a:solidFill>
                  <a:srgbClr val="F1EADE"/>
                </a:solidFill>
                <a:latin typeface="Playfair Display"/>
                <a:ea typeface="Playfair Display"/>
                <a:cs typeface="Playfair Display"/>
                <a:sym typeface="Playfair Display"/>
              </a:rPr>
              <a:t> system design</a:t>
            </a:r>
          </a:p>
        </p:txBody>
      </p:sp>
      <p:sp>
        <p:nvSpPr>
          <p:cNvPr name="TextBox 14" id="14"/>
          <p:cNvSpPr txBox="true"/>
          <p:nvPr/>
        </p:nvSpPr>
        <p:spPr>
          <a:xfrm rot="0">
            <a:off x="748117" y="6450201"/>
            <a:ext cx="6944897" cy="1069975"/>
          </a:xfrm>
          <a:prstGeom prst="rect">
            <a:avLst/>
          </a:prstGeom>
        </p:spPr>
        <p:txBody>
          <a:bodyPr anchor="t" rtlCol="false" tIns="0" lIns="0" bIns="0" rIns="0">
            <a:spAutoFit/>
          </a:bodyPr>
          <a:lstStyle/>
          <a:p>
            <a:pPr algn="l">
              <a:lnSpc>
                <a:spcPts val="2900"/>
              </a:lnSpc>
            </a:pPr>
            <a:r>
              <a:rPr lang="en-US" sz="2000">
                <a:solidFill>
                  <a:srgbClr val="F1EADE"/>
                </a:solidFill>
                <a:latin typeface="Playfair Display"/>
                <a:ea typeface="Playfair Display"/>
                <a:cs typeface="Playfair Display"/>
                <a:sym typeface="Playfair Display"/>
              </a:rPr>
              <a:t>System manages real-time, concurrent ﬂoor requests Exception handling ensures safe operation under invalid inputs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DAHFWch31H8</dc:identifier>
  <dcterms:modified xsi:type="dcterms:W3CDTF">2011-08-01T06:04:30Z</dcterms:modified>
  <cp:revision>1</cp:revision>
  <dc:title>Designing Multi Elevator Control System.pdf</dc:title>
</cp:coreProperties>
</file>